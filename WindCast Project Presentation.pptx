
<file path=[Content_Types].xml><?xml version="1.0" encoding="utf-8"?>
<ct:Types xmlns:ct="http://schemas.openxmlformats.org/package/2006/content-types"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slideLayouts/slideLayout1.xml" ContentType="application/vnd.openxmlformats-officedocument.presentationml.slideLayout+xml"/>
  <ct:Override PartName="/ppt/theme/theme1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1.xml" ContentType="application/vnd.openxmlformats-officedocument.presentationml.slide+xml"/>
  <ct:Override PartName="/ppt/slides/slide2.xml" ContentType="application/vnd.openxmlformats-officedocument.presentationml.slide+xml"/>
  <ct:Override PartName="/ppt/slides/slide3.xml" ContentType="application/vnd.openxmlformats-officedocument.presentationml.slide+xml"/>
  <ct:Override PartName="/ppt/slides/slide4.xml" ContentType="application/vnd.openxmlformats-officedocument.presentationml.slide+xml"/>
  <ct:Override PartName="/ppt/slides/slide5.xml" ContentType="application/vnd.openxmlformats-officedocument.presentationml.slide+xml"/>
  <ct:Override PartName="/ppt/slides/slide6.xml" ContentType="application/vnd.openxmlformats-officedocument.presentationml.slide+xml"/>
  <ct:Override PartName="/ppt/slides/slide7.xml" ContentType="application/vnd.openxmlformats-officedocument.presentationml.slide+xml"/>
  <ct:Override PartName="/ppt/slides/slide8.xml" ContentType="application/vnd.openxmlformats-officedocument.presentationml.slide+xml"/>
  <ct:Override PartName="/ppt/slides/slide9.xml" ContentType="application/vnd.openxmlformats-officedocument.presentationml.slide+xml"/>
  <ct:Override PartName="/ppt/slides/slide10.xml" ContentType="application/vnd.openxmlformats-officedocument.presentationml.slide+xml"/>
</ct:Types>
</file>

<file path=_rels/.rels><?xml version='1.0' encoding='utf-8'?>
<rel:Relationships xmlns:rel="http://schemas.openxmlformats.org/package/2006/relationships"><rel:Relationship Id="rId1" Type="http://schemas.openxmlformats.org/officeDocument/2006/relationships/officeDocument" Target="ppt/presentation.xml" /><rel:Relationship Id="rId2" Type="http://schemas.openxmlformats.org/package/2006/relationships/metadata/core-properties" Target="docProps/core.xml" /><rel:Relationship Id="rId3" Type="http://schemas.openxmlformats.org/officeDocument/2006/relationships/extended-properties" Target="docProps/app.xml" /></rel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>
    <a:lvl1pPr>
      <a:defRPr sz="1800"/>
    </a:lvl1pPr>
  </p:defaultTextStyle>
</p:presentation>
</file>

<file path=ppt/_rels/presentation.xml.rels><?xml version='1.0' encoding='utf-8'?>
<rel:Relationships xmlns:rel="http://schemas.openxmlformats.org/package/2006/relationships"><rel:Relationship Id="rId1" Type="http://schemas.openxmlformats.org/officeDocument/2006/relationships/slideMaster" Target="slideMasters/slideMaster1.xml" /><rel:Relationship Id="rId2" Type="http://schemas.openxmlformats.org/officeDocument/2006/relationships/slide" Target="slides/slide1.xml" /><rel:Relationship Id="rId3" Type="http://schemas.openxmlformats.org/officeDocument/2006/relationships/slide" Target="slides/slide2.xml" /><rel:Relationship Id="rId4" Type="http://schemas.openxmlformats.org/officeDocument/2006/relationships/slide" Target="slides/slide3.xml" /><rel:Relationship Id="rId5" Type="http://schemas.openxmlformats.org/officeDocument/2006/relationships/slide" Target="slides/slide4.xml" /><rel:Relationship Id="rId6" Type="http://schemas.openxmlformats.org/officeDocument/2006/relationships/slide" Target="slides/slide5.xml" /><rel:Relationship Id="rId7" Type="http://schemas.openxmlformats.org/officeDocument/2006/relationships/slide" Target="slides/slide6.xml" /><rel:Relationship Id="rId8" Type="http://schemas.openxmlformats.org/officeDocument/2006/relationships/slide" Target="slides/slide7.xml" /><rel:Relationship Id="rId9" Type="http://schemas.openxmlformats.org/officeDocument/2006/relationships/slide" Target="slides/slide8.xml" /><rel:Relationship Id="rId10" Type="http://schemas.openxmlformats.org/officeDocument/2006/relationships/slide" Target="slides/slide9.xml" /><rel:Relationship Id="rId11" Type="http://schemas.openxmlformats.org/officeDocument/2006/relationships/slide" Target="slides/slide10.xml" /></rel:Relationships>
</file>

<file path=ppt/slideLayouts/_rels/slideLayout1.xml.rels><?xml version='1.0' encoding='utf-8'?>
<rel:Relationships xmlns:rel="http://schemas.openxmlformats.org/package/2006/relationships"><rel:Relationship Id="rId1" Type="http://schemas.openxmlformats.org/officeDocument/2006/relationships/slideMaster" Target="../slideMasters/slideMaster1.xml" /></rel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 matchingName="WindCast Blank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rel:Relationship Id="rId2" Type="http://schemas.openxmlformats.org/officeDocument/2006/relationships/theme" Target="../theme/theme1.xml" /></rel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indCast Master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accent1="accent1" accent2="accent2" accent3="accent3" accent4="accent4" accent5="accent5" accent6="accent6" bg1="lt1" bg2="lt2" dk1="dk1" dk2="dk2" folHlink="folHlink" hlink="hlink" lt1="lt1" lt2="lt2"/>
  <p:sldLayoutIdLst>
    <p:sldLayoutId id="1" r:id="rId1"/>
  </p:sldLayoutIdLst>
  <p:txStyles>
    <p:titleStyle>
      <a:lvl1pPr>
        <a:defRPr sz="18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3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4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5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6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7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8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9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0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slide1.xml><?xml version="1.0" encoding="utf-8"?>
<p:sld xmlns:a="http://schemas.openxmlformats.org/drawingml/2006/main" xmlns:p="http://schemas.openxmlformats.org/presentationml/2006/main">
  <p:cSld name="WindCast proje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Shape 4"/>
          <p:cNvSpPr/>
          <p:nvPr/>
        </p:nvSpPr>
        <p:spPr>
          <a:xfrm>
            <a:off x="658368" y="493776"/>
            <a:ext cx="256032" cy="256032"/>
          </a:xfrm>
          <a:prstGeom prst="ellipse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5" name="WindCast"/>
          <p:cNvSpPr/>
          <p:nvPr/>
        </p:nvSpPr>
        <p:spPr>
          <a:xfrm>
            <a:off x="1024128" y="438912"/>
            <a:ext cx="246888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700" dirty="0" b="1">
                <a:solidFill>
                  <a:srgbClr val="EFF4F8"/>
                </a:solidFill>
                <a:latin typeface="Aptos"/>
              </a:rPr>
              <a:t>WindCast</a:t>
            </a:r>
            <a:endParaRPr lang="en-US" sz="17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UK WIND INTELLIGENCE"/>
          <p:cNvSpPr/>
          <p:nvPr/>
        </p:nvSpPr>
        <p:spPr>
          <a:xfrm>
            <a:off x="1033272" y="740664"/>
            <a:ext cx="292608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9CAFC0"/>
                </a:solidFill>
                <a:latin typeface="Consolas"/>
              </a:rPr>
              <a:t>UK WIND INTELLIGENCE</a:t>
            </a:r>
            <a:endParaRPr lang="en-US" sz="8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823960" y="475488"/>
            <a:ext cx="2670048" cy="301752"/>
          </a:xfrm>
          <a:prstGeom prst="roundRect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8" name="PROJECT OVERVIEW  ·  JAN 2026"/>
          <p:cNvSpPr/>
          <p:nvPr/>
        </p:nvSpPr>
        <p:spPr>
          <a:xfrm>
            <a:off x="8915400" y="502920"/>
            <a:ext cx="2487168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 marL="0" indent="0"/>
            <a:r>
              <a:rPr lang="en-US" sz="800" dirty="0" b="1">
                <a:solidFill>
                  <a:srgbClr val="EFF4F8"/>
                </a:solidFill>
                <a:latin typeface="Consolas"/>
              </a:rPr>
              <a:t>PROJECT OVERVIEW  ·  JAN 2026</a:t>
            </a:r>
            <a:endParaRPr lang="en-US" sz="800">
              <a:solidFill>
                <a:srgbClr val="EFF4F8"/>
              </a:solidFill>
              <a:latin typeface="Consolas"/>
            </a:endParaRPr>
          </a:p>
        </p:txBody>
      </p:sp>
      <p:sp>
        <p:nvSpPr>
          <p:cNvPr id="9" name="Wind generation&#10;forecast intelli"/>
          <p:cNvSpPr/>
          <p:nvPr/>
        </p:nvSpPr>
        <p:spPr>
          <a:xfrm>
            <a:off x="731520" y="1828800"/>
            <a:ext cx="5212080" cy="1371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3200" dirty="0" b="1">
                <a:solidFill>
                  <a:srgbClr val="EFF4F8"/>
                </a:solidFill>
                <a:latin typeface="Aptos"/>
              </a:rPr>
              <a:t>Wind generation</a:t>
            </a:r>
            <a:endParaRPr lang="en-US" sz="3200">
              <a:solidFill>
                <a:srgbClr val="EFF4F8"/>
              </a:solidFill>
              <a:latin typeface="Aptos"/>
            </a:endParaRPr>
          </a:p>
          <a:p>
            <a:pPr algn="l" marL="0" indent="0"/>
            <a:r>
              <a:rPr lang="en-US" sz="3200" dirty="0" b="1">
                <a:solidFill>
                  <a:srgbClr val="EFF4F8"/>
                </a:solidFill>
                <a:latin typeface="Aptos"/>
              </a:rPr>
              <a:t>forecast intelligence</a:t>
            </a:r>
            <a:endParaRPr lang="en-US" sz="32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0" name="A time-safe, data-aware view of "/>
          <p:cNvSpPr/>
          <p:nvPr/>
        </p:nvSpPr>
        <p:spPr>
          <a:xfrm>
            <a:off x="749808" y="3429000"/>
            <a:ext cx="4983480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700" dirty="0">
                <a:solidFill>
                  <a:srgbClr val="9CAFC0"/>
                </a:solidFill>
                <a:latin typeface="Aptos"/>
              </a:rPr>
              <a:t>A time-safe, data-aware view of how selected forecasts track UK wind generation.</a:t>
            </a:r>
            <a:endParaRPr lang="en-US" sz="17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1" name="ELEXON BMRS  •  UTC  •  HOURLY C"/>
          <p:cNvSpPr/>
          <p:nvPr/>
        </p:nvSpPr>
        <p:spPr>
          <a:xfrm>
            <a:off x="749808" y="5074920"/>
            <a:ext cx="530352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36D2C2"/>
                </a:solidFill>
                <a:latin typeface="Consolas"/>
              </a:rPr>
              <a:t>ELEXON BMRS  •  UTC  •  HOURLY COMPARISON</a:t>
            </a:r>
            <a:endParaRPr lang="en-US" sz="9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2" name="Forecast profile visual"/>
          <p:cNvSpPr/>
          <p:nvPr/>
        </p:nvSpPr>
        <p:spPr>
          <a:xfrm>
            <a:off x="6126480" y="1417320"/>
            <a:ext cx="5349240" cy="4526280"/>
          </a:xfrm>
          <a:prstGeom prst="roundRect">
            <a:avLst/>
          </a:prstGeom>
          <a:solidFill>
            <a:srgbClr val="101D2A"/>
          </a:solidFill>
          <a:ln w="11430">
            <a:solidFill>
              <a:srgbClr val="2A3D50"/>
            </a:solidFill>
          </a:ln>
        </p:spPr>
      </p:sp>
      <p:sp>
        <p:nvSpPr>
          <p:cNvPr id="13" name="ACTUAL VS SELECTED FORECAST"/>
          <p:cNvSpPr/>
          <p:nvPr/>
        </p:nvSpPr>
        <p:spPr>
          <a:xfrm>
            <a:off x="6446520" y="1737360"/>
            <a:ext cx="44805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9CAFC0"/>
                </a:solidFill>
                <a:latin typeface="Consolas"/>
              </a:rPr>
              <a:t>ACTUAL VS SELECTED FORECAST</a:t>
            </a:r>
            <a:endParaRPr lang="en-US" sz="9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14" name="Delivery profile"/>
          <p:cNvSpPr/>
          <p:nvPr/>
        </p:nvSpPr>
        <p:spPr>
          <a:xfrm>
            <a:off x="6446520" y="2039112"/>
            <a:ext cx="438912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800" dirty="0" b="1">
                <a:solidFill>
                  <a:srgbClr val="EFF4F8"/>
                </a:solidFill>
                <a:latin typeface="Aptos"/>
              </a:rPr>
              <a:t>Delivery profile</a:t>
            </a:r>
            <a:endParaRPr lang="en-US" sz="18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5" name="Line"/>
          <p:cNvSpPr/>
          <p:nvPr/>
        </p:nvSpPr>
        <p:spPr>
          <a:xfrm>
            <a:off x="6583680" y="5257800"/>
            <a:ext cx="4498848" cy="1"/>
          </a:xfrm>
          <a:prstGeom prst="line">
            <a:avLst/>
          </a:prstGeom>
          <a:noFill/>
          <a:ln w="7620">
            <a:solidFill>
              <a:srgbClr val="2A3D50"/>
            </a:solidFill>
            <a:prstDash val="dash"/>
          </a:ln>
        </p:spPr>
      </p:sp>
      <p:sp>
        <p:nvSpPr>
          <p:cNvPr id="16" name="Line"/>
          <p:cNvSpPr/>
          <p:nvPr/>
        </p:nvSpPr>
        <p:spPr>
          <a:xfrm>
            <a:off x="6583680" y="4629150"/>
            <a:ext cx="4498848" cy="1"/>
          </a:xfrm>
          <a:prstGeom prst="line">
            <a:avLst/>
          </a:prstGeom>
          <a:noFill/>
          <a:ln w="7620">
            <a:solidFill>
              <a:srgbClr val="2A3D50"/>
            </a:solidFill>
            <a:prstDash val="dash"/>
          </a:ln>
        </p:spPr>
      </p:sp>
      <p:sp>
        <p:nvSpPr>
          <p:cNvPr id="17" name="Line"/>
          <p:cNvSpPr/>
          <p:nvPr/>
        </p:nvSpPr>
        <p:spPr>
          <a:xfrm>
            <a:off x="6583680" y="4000500"/>
            <a:ext cx="4498848" cy="1"/>
          </a:xfrm>
          <a:prstGeom prst="line">
            <a:avLst/>
          </a:prstGeom>
          <a:noFill/>
          <a:ln w="7620">
            <a:solidFill>
              <a:srgbClr val="2A3D50"/>
            </a:solidFill>
            <a:prstDash val="dash"/>
          </a:ln>
        </p:spPr>
      </p:sp>
      <p:sp>
        <p:nvSpPr>
          <p:cNvPr id="18" name="Line"/>
          <p:cNvSpPr/>
          <p:nvPr/>
        </p:nvSpPr>
        <p:spPr>
          <a:xfrm>
            <a:off x="6583680" y="3371850"/>
            <a:ext cx="4498848" cy="1"/>
          </a:xfrm>
          <a:prstGeom prst="line">
            <a:avLst/>
          </a:prstGeom>
          <a:noFill/>
          <a:ln w="7620">
            <a:solidFill>
              <a:srgbClr val="2A3D50"/>
            </a:solidFill>
            <a:prstDash val="dash"/>
          </a:ln>
        </p:spPr>
      </p:sp>
      <p:sp>
        <p:nvSpPr>
          <p:cNvPr id="19" name="Line"/>
          <p:cNvSpPr/>
          <p:nvPr/>
        </p:nvSpPr>
        <p:spPr>
          <a:xfrm>
            <a:off x="6583680" y="2743200"/>
            <a:ext cx="4498848" cy="1"/>
          </a:xfrm>
          <a:prstGeom prst="line">
            <a:avLst/>
          </a:prstGeom>
          <a:noFill/>
          <a:ln w="7620">
            <a:solidFill>
              <a:srgbClr val="2A3D50"/>
            </a:solidFill>
            <a:prstDash val="dash"/>
          </a:ln>
        </p:spPr>
      </p:sp>
      <p:sp>
        <p:nvSpPr>
          <p:cNvPr id="20" name="Line"/>
          <p:cNvSpPr/>
          <p:nvPr/>
        </p:nvSpPr>
        <p:spPr>
          <a:xfrm flipV="1">
            <a:off x="6629400" y="3931920"/>
            <a:ext cx="594360" cy="320040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21" name="Line"/>
          <p:cNvSpPr/>
          <p:nvPr/>
        </p:nvSpPr>
        <p:spPr>
          <a:xfrm flipV="1">
            <a:off x="7223760" y="3657600"/>
            <a:ext cx="594360" cy="274320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22" name="Line"/>
          <p:cNvSpPr/>
          <p:nvPr/>
        </p:nvSpPr>
        <p:spPr>
          <a:xfrm flipV="1">
            <a:off x="7818120" y="3154680"/>
            <a:ext cx="594360" cy="502920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23" name="Line"/>
          <p:cNvSpPr/>
          <p:nvPr/>
        </p:nvSpPr>
        <p:spPr>
          <a:xfrm>
            <a:off x="8412480" y="3154680"/>
            <a:ext cx="594360" cy="320040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24" name="Line"/>
          <p:cNvSpPr/>
          <p:nvPr/>
        </p:nvSpPr>
        <p:spPr>
          <a:xfrm>
            <a:off x="9006840" y="3474720"/>
            <a:ext cx="594360" cy="502920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25" name="Line"/>
          <p:cNvSpPr/>
          <p:nvPr/>
        </p:nvSpPr>
        <p:spPr>
          <a:xfrm>
            <a:off x="9601200" y="3977640"/>
            <a:ext cx="594360" cy="457200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26" name="Line"/>
          <p:cNvSpPr/>
          <p:nvPr/>
        </p:nvSpPr>
        <p:spPr>
          <a:xfrm flipV="1">
            <a:off x="10195560" y="4160520"/>
            <a:ext cx="594360" cy="274320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27" name="Shape 27"/>
          <p:cNvSpPr/>
          <p:nvPr/>
        </p:nvSpPr>
        <p:spPr>
          <a:xfrm>
            <a:off x="6588252" y="421081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28" name="Shape 28"/>
          <p:cNvSpPr/>
          <p:nvPr/>
        </p:nvSpPr>
        <p:spPr>
          <a:xfrm>
            <a:off x="7182612" y="389077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29" name="Shape 29"/>
          <p:cNvSpPr/>
          <p:nvPr/>
        </p:nvSpPr>
        <p:spPr>
          <a:xfrm>
            <a:off x="7776972" y="361645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0" name="Shape 30"/>
          <p:cNvSpPr/>
          <p:nvPr/>
        </p:nvSpPr>
        <p:spPr>
          <a:xfrm>
            <a:off x="8371332" y="311353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1" name="Shape 31"/>
          <p:cNvSpPr/>
          <p:nvPr/>
        </p:nvSpPr>
        <p:spPr>
          <a:xfrm>
            <a:off x="8965692" y="343357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2" name="Shape 32"/>
          <p:cNvSpPr/>
          <p:nvPr/>
        </p:nvSpPr>
        <p:spPr>
          <a:xfrm>
            <a:off x="9560052" y="393649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3" name="Shape 33"/>
          <p:cNvSpPr/>
          <p:nvPr/>
        </p:nvSpPr>
        <p:spPr>
          <a:xfrm>
            <a:off x="10154412" y="439369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4" name="Shape 34"/>
          <p:cNvSpPr/>
          <p:nvPr/>
        </p:nvSpPr>
        <p:spPr>
          <a:xfrm>
            <a:off x="10748772" y="4119372"/>
            <a:ext cx="82296" cy="82296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5" name="Line"/>
          <p:cNvSpPr/>
          <p:nvPr/>
        </p:nvSpPr>
        <p:spPr>
          <a:xfrm flipV="1">
            <a:off x="6629400" y="4251960"/>
            <a:ext cx="594360" cy="274320"/>
          </a:xfrm>
          <a:prstGeom prst="line">
            <a:avLst/>
          </a:prstGeom>
          <a:noFill/>
          <a:ln w="24130">
            <a:solidFill>
              <a:srgbClr val="42A86B"/>
            </a:solidFill>
          </a:ln>
        </p:spPr>
      </p:sp>
      <p:sp>
        <p:nvSpPr>
          <p:cNvPr id="36" name="Line"/>
          <p:cNvSpPr/>
          <p:nvPr/>
        </p:nvSpPr>
        <p:spPr>
          <a:xfrm flipV="1">
            <a:off x="7223760" y="3794760"/>
            <a:ext cx="594360" cy="457200"/>
          </a:xfrm>
          <a:prstGeom prst="line">
            <a:avLst/>
          </a:prstGeom>
          <a:noFill/>
          <a:ln w="24130">
            <a:solidFill>
              <a:srgbClr val="42A86B"/>
            </a:solidFill>
          </a:ln>
        </p:spPr>
      </p:sp>
      <p:sp>
        <p:nvSpPr>
          <p:cNvPr id="37" name="Line"/>
          <p:cNvSpPr/>
          <p:nvPr/>
        </p:nvSpPr>
        <p:spPr>
          <a:xfrm>
            <a:off x="7818120" y="3794760"/>
            <a:ext cx="594360" cy="182880"/>
          </a:xfrm>
          <a:prstGeom prst="line">
            <a:avLst/>
          </a:prstGeom>
          <a:noFill/>
          <a:ln w="24130">
            <a:solidFill>
              <a:srgbClr val="42A86B"/>
            </a:solidFill>
          </a:ln>
        </p:spPr>
      </p:sp>
      <p:sp>
        <p:nvSpPr>
          <p:cNvPr id="38" name="Line"/>
          <p:cNvSpPr/>
          <p:nvPr/>
        </p:nvSpPr>
        <p:spPr>
          <a:xfrm flipV="1">
            <a:off x="8412480" y="3401568"/>
            <a:ext cx="594360" cy="576072"/>
          </a:xfrm>
          <a:prstGeom prst="line">
            <a:avLst/>
          </a:prstGeom>
          <a:noFill/>
          <a:ln w="24130">
            <a:solidFill>
              <a:srgbClr val="42A86B"/>
            </a:solidFill>
          </a:ln>
        </p:spPr>
      </p:sp>
      <p:sp>
        <p:nvSpPr>
          <p:cNvPr id="39" name="Line"/>
          <p:cNvSpPr/>
          <p:nvPr/>
        </p:nvSpPr>
        <p:spPr>
          <a:xfrm>
            <a:off x="9006840" y="3401568"/>
            <a:ext cx="594360" cy="329184"/>
          </a:xfrm>
          <a:prstGeom prst="line">
            <a:avLst/>
          </a:prstGeom>
          <a:noFill/>
          <a:ln w="24130">
            <a:solidFill>
              <a:srgbClr val="42A86B"/>
            </a:solidFill>
          </a:ln>
        </p:spPr>
      </p:sp>
      <p:sp>
        <p:nvSpPr>
          <p:cNvPr id="40" name="Line"/>
          <p:cNvSpPr/>
          <p:nvPr/>
        </p:nvSpPr>
        <p:spPr>
          <a:xfrm>
            <a:off x="9601200" y="3730752"/>
            <a:ext cx="594360" cy="493776"/>
          </a:xfrm>
          <a:prstGeom prst="line">
            <a:avLst/>
          </a:prstGeom>
          <a:noFill/>
          <a:ln w="24130">
            <a:solidFill>
              <a:srgbClr val="42A86B"/>
            </a:solidFill>
          </a:ln>
        </p:spPr>
      </p:sp>
      <p:sp>
        <p:nvSpPr>
          <p:cNvPr id="41" name="Line"/>
          <p:cNvSpPr/>
          <p:nvPr/>
        </p:nvSpPr>
        <p:spPr>
          <a:xfrm flipV="1">
            <a:off x="10195560" y="3977640"/>
            <a:ext cx="594360" cy="246888"/>
          </a:xfrm>
          <a:prstGeom prst="line">
            <a:avLst/>
          </a:prstGeom>
          <a:noFill/>
          <a:ln w="24130">
            <a:solidFill>
              <a:srgbClr val="42A86B"/>
            </a:solidFill>
          </a:ln>
        </p:spPr>
      </p:sp>
      <p:sp>
        <p:nvSpPr>
          <p:cNvPr id="42" name="Shape 42"/>
          <p:cNvSpPr/>
          <p:nvPr/>
        </p:nvSpPr>
        <p:spPr>
          <a:xfrm>
            <a:off x="6588252" y="4485132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43" name="Shape 43"/>
          <p:cNvSpPr/>
          <p:nvPr/>
        </p:nvSpPr>
        <p:spPr>
          <a:xfrm>
            <a:off x="7182612" y="4210812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44" name="Shape 44"/>
          <p:cNvSpPr/>
          <p:nvPr/>
        </p:nvSpPr>
        <p:spPr>
          <a:xfrm>
            <a:off x="7776972" y="3753612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45" name="Shape 45"/>
          <p:cNvSpPr/>
          <p:nvPr/>
        </p:nvSpPr>
        <p:spPr>
          <a:xfrm>
            <a:off x="8371332" y="3936492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46" name="Shape 46"/>
          <p:cNvSpPr/>
          <p:nvPr/>
        </p:nvSpPr>
        <p:spPr>
          <a:xfrm>
            <a:off x="8965692" y="3360420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47" name="Shape 47"/>
          <p:cNvSpPr/>
          <p:nvPr/>
        </p:nvSpPr>
        <p:spPr>
          <a:xfrm>
            <a:off x="9560052" y="3689604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48" name="Shape 48"/>
          <p:cNvSpPr/>
          <p:nvPr/>
        </p:nvSpPr>
        <p:spPr>
          <a:xfrm>
            <a:off x="10154412" y="4183380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49" name="Shape 49"/>
          <p:cNvSpPr/>
          <p:nvPr/>
        </p:nvSpPr>
        <p:spPr>
          <a:xfrm>
            <a:off x="10748772" y="3936492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50" name="Line"/>
          <p:cNvSpPr/>
          <p:nvPr/>
        </p:nvSpPr>
        <p:spPr>
          <a:xfrm>
            <a:off x="6446520" y="5596128"/>
            <a:ext cx="301752" cy="1"/>
          </a:xfrm>
          <a:prstGeom prst="line">
            <a:avLst/>
          </a:prstGeom>
          <a:noFill/>
          <a:ln w="25400">
            <a:solidFill>
              <a:srgbClr val="42A86B"/>
            </a:solidFill>
          </a:ln>
        </p:spPr>
      </p:sp>
      <p:sp>
        <p:nvSpPr>
          <p:cNvPr id="51" name="Actual generation"/>
          <p:cNvSpPr/>
          <p:nvPr/>
        </p:nvSpPr>
        <p:spPr>
          <a:xfrm>
            <a:off x="6839712" y="5486400"/>
            <a:ext cx="16002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Actual generation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52" name="Line"/>
          <p:cNvSpPr/>
          <p:nvPr/>
        </p:nvSpPr>
        <p:spPr>
          <a:xfrm>
            <a:off x="8549640" y="5596128"/>
            <a:ext cx="301752" cy="1"/>
          </a:xfrm>
          <a:prstGeom prst="line">
            <a:avLst/>
          </a:prstGeom>
          <a:noFill/>
          <a:ln w="25400">
            <a:solidFill>
              <a:srgbClr val="5A9AE8"/>
            </a:solidFill>
            <a:prstDash val="dash"/>
          </a:ln>
        </p:spPr>
      </p:sp>
      <p:sp>
        <p:nvSpPr>
          <p:cNvPr id="53" name="Selected forecast"/>
          <p:cNvSpPr/>
          <p:nvPr/>
        </p:nvSpPr>
        <p:spPr>
          <a:xfrm>
            <a:off x="8942832" y="5486400"/>
            <a:ext cx="201168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Selected forecast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Project at a gl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1 / PURPOSE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01 / PURPOSE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A fair comparison of forecast an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A fair comparison of forecast and reality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WindCast turns two source feeds 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WindCast turns two source feeds into a decision-time-aware view of forecast performance.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2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02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Align"/>
          <p:cNvSpPr/>
          <p:nvPr/>
        </p:nvSpPr>
        <p:spPr>
          <a:xfrm>
            <a:off x="658368" y="1965960"/>
            <a:ext cx="3474720" cy="182880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1" name="Align accent"/>
          <p:cNvSpPr/>
          <p:nvPr/>
        </p:nvSpPr>
        <p:spPr>
          <a:xfrm>
            <a:off x="676656" y="1984248"/>
            <a:ext cx="3438144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12" name="Align"/>
          <p:cNvSpPr/>
          <p:nvPr/>
        </p:nvSpPr>
        <p:spPr>
          <a:xfrm>
            <a:off x="859536" y="2167128"/>
            <a:ext cx="3072384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Align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3" name="Bring observed national wind out"/>
          <p:cNvSpPr/>
          <p:nvPr/>
        </p:nvSpPr>
        <p:spPr>
          <a:xfrm>
            <a:off x="859536" y="2587752"/>
            <a:ext cx="3072384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Bring observed national wind output and forecast delivery periods onto the same UTC hourly timeline.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4" name="COMPARABLE PERIODS"/>
          <p:cNvSpPr/>
          <p:nvPr/>
        </p:nvSpPr>
        <p:spPr>
          <a:xfrm>
            <a:off x="859536" y="3465576"/>
            <a:ext cx="307238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Aptos"/>
              </a:rPr>
              <a:t>COMPARABLE PERIODS</a:t>
            </a:r>
            <a:endParaRPr lang="en-US" sz="8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15" name="Select"/>
          <p:cNvSpPr/>
          <p:nvPr/>
        </p:nvSpPr>
        <p:spPr>
          <a:xfrm>
            <a:off x="4361688" y="1965960"/>
            <a:ext cx="3474720" cy="182880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6" name="Select accent"/>
          <p:cNvSpPr/>
          <p:nvPr/>
        </p:nvSpPr>
        <p:spPr>
          <a:xfrm>
            <a:off x="4379976" y="1984248"/>
            <a:ext cx="3438144" cy="41148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17" name="Select"/>
          <p:cNvSpPr/>
          <p:nvPr/>
        </p:nvSpPr>
        <p:spPr>
          <a:xfrm>
            <a:off x="4562856" y="2167128"/>
            <a:ext cx="3072384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Select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8" name="Use only the latest forecast vin"/>
          <p:cNvSpPr/>
          <p:nvPr/>
        </p:nvSpPr>
        <p:spPr>
          <a:xfrm>
            <a:off x="4562856" y="2587752"/>
            <a:ext cx="3072384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Use only the latest forecast vintage available by the configured decision cutoff.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9" name="NO LOOK-AHEAD"/>
          <p:cNvSpPr/>
          <p:nvPr/>
        </p:nvSpPr>
        <p:spPr>
          <a:xfrm>
            <a:off x="4562856" y="3465576"/>
            <a:ext cx="307238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5A9AE8"/>
                </a:solidFill>
                <a:latin typeface="Aptos"/>
              </a:rPr>
              <a:t>NO LOOK-AHEAD</a:t>
            </a:r>
            <a:endParaRPr lang="en-US" sz="800">
              <a:solidFill>
                <a:srgbClr val="5A9AE8"/>
              </a:solidFill>
              <a:latin typeface="Aptos"/>
            </a:endParaRPr>
          </a:p>
        </p:txBody>
      </p:sp>
      <p:sp>
        <p:nvSpPr>
          <p:cNvPr id="20" name="Measure"/>
          <p:cNvSpPr/>
          <p:nvPr/>
        </p:nvSpPr>
        <p:spPr>
          <a:xfrm>
            <a:off x="8065008" y="1965960"/>
            <a:ext cx="3474720" cy="182880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21" name="Measure accent"/>
          <p:cNvSpPr/>
          <p:nvPr/>
        </p:nvSpPr>
        <p:spPr>
          <a:xfrm>
            <a:off x="8083296" y="1984248"/>
            <a:ext cx="3438144" cy="41148"/>
          </a:xfrm>
          <a:prstGeom prst="rect">
            <a:avLst/>
          </a:prstGeom>
          <a:solidFill>
            <a:srgbClr val="DDA85D"/>
          </a:solidFill>
          <a:ln w="12700">
            <a:noFill/>
          </a:ln>
        </p:spPr>
      </p:sp>
      <p:sp>
        <p:nvSpPr>
          <p:cNvPr id="22" name="Measure"/>
          <p:cNvSpPr/>
          <p:nvPr/>
        </p:nvSpPr>
        <p:spPr>
          <a:xfrm>
            <a:off x="8266176" y="2167128"/>
            <a:ext cx="3072384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Measure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3" name="Show error, bias, coverage, and "/>
          <p:cNvSpPr/>
          <p:nvPr/>
        </p:nvSpPr>
        <p:spPr>
          <a:xfrm>
            <a:off x="8266176" y="2587752"/>
            <a:ext cx="3072384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Show error, bias, coverage, and missingness so performance is readable and auditable.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4" name="API-DERIVED"/>
          <p:cNvSpPr/>
          <p:nvPr/>
        </p:nvSpPr>
        <p:spPr>
          <a:xfrm>
            <a:off x="8266176" y="3465576"/>
            <a:ext cx="307238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DDA85D"/>
                </a:solidFill>
                <a:latin typeface="Aptos"/>
              </a:rPr>
              <a:t>API-DERIVED</a:t>
            </a:r>
            <a:endParaRPr lang="en-US" sz="800">
              <a:solidFill>
                <a:srgbClr val="DDA85D"/>
              </a:solidFill>
              <a:latin typeface="Aptos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58368" y="4160520"/>
            <a:ext cx="10881360" cy="1325880"/>
          </a:xfrm>
          <a:prstGeom prst="roundRect">
            <a:avLst/>
          </a:prstGeom>
          <a:solidFill>
            <a:srgbClr val="142435"/>
          </a:solidFill>
          <a:ln w="10160">
            <a:solidFill>
              <a:srgbClr val="2A3D50"/>
            </a:solidFill>
          </a:ln>
        </p:spPr>
      </p:sp>
      <p:sp>
        <p:nvSpPr>
          <p:cNvPr id="26" name="THE QUESTION"/>
          <p:cNvSpPr/>
          <p:nvPr/>
        </p:nvSpPr>
        <p:spPr>
          <a:xfrm>
            <a:off x="932688" y="4407408"/>
            <a:ext cx="19202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THE QUESTION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27" name="How closely did an eligible wind"/>
          <p:cNvSpPr/>
          <p:nvPr/>
        </p:nvSpPr>
        <p:spPr>
          <a:xfrm>
            <a:off x="932688" y="4681728"/>
            <a:ext cx="100126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700" dirty="0" b="1">
                <a:solidFill>
                  <a:srgbClr val="EFF4F8"/>
                </a:solidFill>
                <a:latin typeface="Aptos"/>
              </a:rPr>
              <a:t>How closely did an eligible wind forecast track the generation that was later observed?</a:t>
            </a:r>
            <a:endParaRPr lang="en-US" sz="17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8" name="Scope: national WIND data from E"/>
          <p:cNvSpPr/>
          <p:nvPr/>
        </p:nvSpPr>
        <p:spPr>
          <a:xfrm>
            <a:off x="941832" y="5138928"/>
            <a:ext cx="98755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Scope: national WIND data from Elexon BMRS  ·  January 2026  ·  UTC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Data align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2 / DATA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02 / DATA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Two source resolutions, one hour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Two source resolutions, one hourly comparison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Actuals arrive half-hourly; the 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Actuals arrive half-hourly; the forecast series is hourly. The backend aligns them before scoring.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3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03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FUELHH · observed WIND"/>
          <p:cNvSpPr/>
          <p:nvPr/>
        </p:nvSpPr>
        <p:spPr>
          <a:xfrm>
            <a:off x="658368" y="1874520"/>
            <a:ext cx="2743200" cy="132588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1" name="FUELHH · observed WIND accent"/>
          <p:cNvSpPr/>
          <p:nvPr/>
        </p:nvSpPr>
        <p:spPr>
          <a:xfrm>
            <a:off x="676656" y="1892808"/>
            <a:ext cx="2706624" cy="41148"/>
          </a:xfrm>
          <a:prstGeom prst="rect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12" name="FUELHH · observed WIND"/>
          <p:cNvSpPr/>
          <p:nvPr/>
        </p:nvSpPr>
        <p:spPr>
          <a:xfrm>
            <a:off x="859536" y="2075688"/>
            <a:ext cx="2340864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FUELHH · observed WIND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3" name="30-minute generation values&#10;Two "/>
          <p:cNvSpPr/>
          <p:nvPr/>
        </p:nvSpPr>
        <p:spPr>
          <a:xfrm>
            <a:off x="859536" y="2496312"/>
            <a:ext cx="2340864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30-minute generation values</a:t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Two settlement periods per hour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4" name="ELEXON BMRS"/>
          <p:cNvSpPr/>
          <p:nvPr/>
        </p:nvSpPr>
        <p:spPr>
          <a:xfrm>
            <a:off x="859536" y="2871216"/>
            <a:ext cx="234086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42A86B"/>
                </a:solidFill>
                <a:latin typeface="Aptos"/>
              </a:rPr>
              <a:t>ELEXON BMRS</a:t>
            </a:r>
            <a:endParaRPr lang="en-US" sz="800">
              <a:solidFill>
                <a:srgbClr val="42A86B"/>
              </a:solidFill>
              <a:latin typeface="Aptos"/>
            </a:endParaRPr>
          </a:p>
        </p:txBody>
      </p:sp>
      <p:sp>
        <p:nvSpPr>
          <p:cNvPr id="15" name="WINDFOR · forecast"/>
          <p:cNvSpPr/>
          <p:nvPr/>
        </p:nvSpPr>
        <p:spPr>
          <a:xfrm>
            <a:off x="658368" y="3657600"/>
            <a:ext cx="2743200" cy="132588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6" name="WINDFOR · forecast accent"/>
          <p:cNvSpPr/>
          <p:nvPr/>
        </p:nvSpPr>
        <p:spPr>
          <a:xfrm>
            <a:off x="676656" y="3675888"/>
            <a:ext cx="2706624" cy="41148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17" name="WINDFOR · forecast"/>
          <p:cNvSpPr/>
          <p:nvPr/>
        </p:nvSpPr>
        <p:spPr>
          <a:xfrm>
            <a:off x="859536" y="3858768"/>
            <a:ext cx="2340864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WINDFOR · forecast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8" name="Hourly generation values&#10;Multipl"/>
          <p:cNvSpPr/>
          <p:nvPr/>
        </p:nvSpPr>
        <p:spPr>
          <a:xfrm>
            <a:off x="859536" y="4279392"/>
            <a:ext cx="2340864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Hourly generation values</a:t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Multiple publication vintages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9" name="ELEXON BMRS"/>
          <p:cNvSpPr/>
          <p:nvPr/>
        </p:nvSpPr>
        <p:spPr>
          <a:xfrm>
            <a:off x="859536" y="4654296"/>
            <a:ext cx="234086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5A9AE8"/>
                </a:solidFill>
                <a:latin typeface="Aptos"/>
              </a:rPr>
              <a:t>ELEXON BMRS</a:t>
            </a:r>
            <a:endParaRPr lang="en-US" sz="800">
              <a:solidFill>
                <a:srgbClr val="5A9AE8"/>
              </a:solidFill>
              <a:latin typeface="Aptos"/>
            </a:endParaRPr>
          </a:p>
        </p:txBody>
      </p:sp>
      <p:sp>
        <p:nvSpPr>
          <p:cNvPr id="20" name="→"/>
          <p:cNvSpPr/>
          <p:nvPr/>
        </p:nvSpPr>
        <p:spPr>
          <a:xfrm>
            <a:off x="3584448" y="2971800"/>
            <a:ext cx="566928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 marL="0" indent="0"/>
            <a:r>
              <a:rPr lang="en-US" sz="3000" dirty="0" b="1">
                <a:solidFill>
                  <a:srgbClr val="36D2C2"/>
                </a:solidFill>
                <a:latin typeface="Aptos"/>
              </a:rPr>
              <a:t>→</a:t>
            </a:r>
            <a:endParaRPr lang="en-US" sz="30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21" name="→"/>
          <p:cNvSpPr/>
          <p:nvPr/>
        </p:nvSpPr>
        <p:spPr>
          <a:xfrm>
            <a:off x="3584448" y="3913632"/>
            <a:ext cx="566928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 marL="0" indent="0"/>
            <a:r>
              <a:rPr lang="en-US" sz="3000" dirty="0" b="1">
                <a:solidFill>
                  <a:srgbClr val="5A9AE8"/>
                </a:solidFill>
                <a:latin typeface="Aptos"/>
              </a:rPr>
              <a:t>→</a:t>
            </a:r>
            <a:endParaRPr lang="en-US" sz="3000">
              <a:solidFill>
                <a:srgbClr val="5A9AE8"/>
              </a:solidFill>
              <a:latin typeface="Aptos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4251960" y="1965960"/>
            <a:ext cx="3090672" cy="2871216"/>
          </a:xfrm>
          <a:prstGeom prst="roundRect">
            <a:avLst/>
          </a:prstGeom>
          <a:solidFill>
            <a:srgbClr val="142435"/>
          </a:solidFill>
          <a:ln w="10160">
            <a:solidFill>
              <a:srgbClr val="2A3D50"/>
            </a:solidFill>
          </a:ln>
        </p:spPr>
      </p:sp>
      <p:sp>
        <p:nvSpPr>
          <p:cNvPr id="23" name="Normalize &amp; align"/>
          <p:cNvSpPr/>
          <p:nvPr/>
        </p:nvSpPr>
        <p:spPr>
          <a:xfrm>
            <a:off x="4498848" y="2212848"/>
            <a:ext cx="26060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500" dirty="0" b="1">
                <a:solidFill>
                  <a:srgbClr val="EFF4F8"/>
                </a:solidFill>
                <a:latin typeface="Aptos"/>
              </a:rPr>
              <a:t>Normalize &amp; align</a:t>
            </a:r>
            <a:endParaRPr lang="en-US" sz="1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4" name="01  Normalize timestamps to UTC&#10;"/>
          <p:cNvSpPr/>
          <p:nvPr/>
        </p:nvSpPr>
        <p:spPr>
          <a:xfrm>
            <a:off x="4517136" y="2724912"/>
            <a:ext cx="2560320" cy="16916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01  Normalize timestamps to UTC</a:t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/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02  Average each complete pair of half-hours</a:t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/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03  Match the forecast for that hourly start time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5" name="→"/>
          <p:cNvSpPr/>
          <p:nvPr/>
        </p:nvSpPr>
        <p:spPr>
          <a:xfrm>
            <a:off x="7461504" y="3063240"/>
            <a:ext cx="566928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 marL="0" indent="0"/>
            <a:r>
              <a:rPr lang="en-US" sz="3000" dirty="0" b="1">
                <a:solidFill>
                  <a:srgbClr val="36D2C2"/>
                </a:solidFill>
                <a:latin typeface="Aptos"/>
              </a:rPr>
              <a:t>→</a:t>
            </a:r>
            <a:endParaRPr lang="en-US" sz="30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8183880" y="2423160"/>
            <a:ext cx="3337560" cy="201168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27" name="Matched hourly record"/>
          <p:cNvSpPr/>
          <p:nvPr/>
        </p:nvSpPr>
        <p:spPr>
          <a:xfrm>
            <a:off x="8458200" y="2724912"/>
            <a:ext cx="27432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500" dirty="0" b="1">
                <a:solidFill>
                  <a:srgbClr val="EFF4F8"/>
                </a:solidFill>
                <a:latin typeface="Aptos"/>
              </a:rPr>
              <a:t>Matched hourly record</a:t>
            </a:r>
            <a:endParaRPr lang="en-US" sz="1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8" name="Delivery time · selected vintage"/>
          <p:cNvSpPr/>
          <p:nvPr/>
        </p:nvSpPr>
        <p:spPr>
          <a:xfrm>
            <a:off x="8458200" y="3200400"/>
            <a:ext cx="2743200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Delivery time · selected vintage</a:t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Forecast MW · actual MW · error MW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658368" y="5303520"/>
            <a:ext cx="10881360" cy="530352"/>
          </a:xfrm>
          <a:prstGeom prst="roundRect">
            <a:avLst/>
          </a:prstGeom>
          <a:solidFill>
            <a:srgbClr val="10281F"/>
          </a:solidFill>
          <a:ln w="8890">
            <a:solidFill>
              <a:srgbClr val="27604F"/>
            </a:solidFill>
          </a:ln>
        </p:spPr>
      </p:sp>
      <p:sp>
        <p:nvSpPr>
          <p:cNvPr id="30" name="Integrity rule   Incomplete half"/>
          <p:cNvSpPr/>
          <p:nvPr/>
        </p:nvSpPr>
        <p:spPr>
          <a:xfrm>
            <a:off x="896112" y="5468112"/>
            <a:ext cx="103327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>
                <a:solidFill>
                  <a:srgbClr val="C3DDD5"/>
                </a:solidFill>
                <a:latin typeface="Aptos"/>
              </a:rPr>
              <a:t>Integrity rule   Incomplete half-hour pairs stay missing; they are never turned into zero.  ·  January has 744 expected hourly comparison periods.</a:t>
            </a:r>
            <a:endParaRPr lang="en-US" sz="900">
              <a:solidFill>
                <a:srgbClr val="C3DDD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Forecast selection poli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3 / DECISION POLICY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03 / DECISION POLICY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Choose the forecast that was ava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Choose the forecast that was available at decision time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For each delivery hour, later pu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For each delivery hour, later publications are not allowed to leak into the comparison.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4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04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Line"/>
          <p:cNvSpPr/>
          <p:nvPr/>
        </p:nvSpPr>
        <p:spPr>
          <a:xfrm>
            <a:off x="1051560" y="3584448"/>
            <a:ext cx="10085832" cy="1"/>
          </a:xfrm>
          <a:prstGeom prst="line">
            <a:avLst/>
          </a:prstGeom>
          <a:noFill/>
          <a:ln w="20320">
            <a:solidFill>
              <a:srgbClr val="526779"/>
            </a:solidFill>
          </a:ln>
        </p:spPr>
      </p:sp>
      <p:sp>
        <p:nvSpPr>
          <p:cNvPr id="11" name="Decision cutoff"/>
          <p:cNvSpPr/>
          <p:nvPr/>
        </p:nvSpPr>
        <p:spPr>
          <a:xfrm>
            <a:off x="7589520" y="2249424"/>
            <a:ext cx="1" cy="2578608"/>
          </a:xfrm>
          <a:prstGeom prst="line">
            <a:avLst/>
          </a:prstGeom>
          <a:noFill/>
          <a:ln w="16510">
            <a:solidFill>
              <a:srgbClr val="DDA85D"/>
            </a:solidFill>
            <a:prstDash val="dash"/>
          </a:ln>
        </p:spPr>
      </p:sp>
      <p:sp>
        <p:nvSpPr>
          <p:cNvPr id="12" name="Shape 12"/>
          <p:cNvSpPr/>
          <p:nvPr/>
        </p:nvSpPr>
        <p:spPr>
          <a:xfrm>
            <a:off x="1348740" y="3515868"/>
            <a:ext cx="137160" cy="137160"/>
          </a:xfrm>
          <a:prstGeom prst="ellipse">
            <a:avLst/>
          </a:prstGeom>
          <a:solidFill>
            <a:srgbClr val="9CAFC0"/>
          </a:solidFill>
          <a:ln w="12700">
            <a:solidFill>
              <a:srgbClr val="0B1520"/>
            </a:solidFill>
          </a:ln>
        </p:spPr>
      </p:sp>
      <p:sp>
        <p:nvSpPr>
          <p:cNvPr id="13" name="T−36h"/>
          <p:cNvSpPr/>
          <p:nvPr/>
        </p:nvSpPr>
        <p:spPr>
          <a:xfrm>
            <a:off x="850392" y="3913632"/>
            <a:ext cx="113385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1000" dirty="0" b="1">
                <a:solidFill>
                  <a:srgbClr val="9CAFC0"/>
                </a:solidFill>
                <a:latin typeface="Consolas"/>
              </a:rPr>
              <a:t>T−36h</a:t>
            </a:r>
            <a:endParaRPr lang="en-US" sz="10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14" name="Earlier&#10;eligible"/>
          <p:cNvSpPr/>
          <p:nvPr/>
        </p:nvSpPr>
        <p:spPr>
          <a:xfrm>
            <a:off x="704088" y="4206240"/>
            <a:ext cx="1426464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Earlier</a:t>
            </a:r>
            <a:endParaRPr lang="en-US" sz="900">
              <a:solidFill>
                <a:srgbClr val="9CAFC0"/>
              </a:solidFill>
              <a:latin typeface="Aptos"/>
            </a:endParaRPr>
          </a:p>
          <a:p>
            <a:pPr algn="ctr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eligible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086100" y="3515868"/>
            <a:ext cx="137160" cy="137160"/>
          </a:xfrm>
          <a:prstGeom prst="ellipse">
            <a:avLst/>
          </a:prstGeom>
          <a:solidFill>
            <a:srgbClr val="5A9AE8"/>
          </a:solidFill>
          <a:ln w="12700">
            <a:solidFill>
              <a:srgbClr val="0B1520"/>
            </a:solidFill>
          </a:ln>
        </p:spPr>
      </p:sp>
      <p:sp>
        <p:nvSpPr>
          <p:cNvPr id="16" name="T−30h"/>
          <p:cNvSpPr/>
          <p:nvPr/>
        </p:nvSpPr>
        <p:spPr>
          <a:xfrm>
            <a:off x="2587752" y="2487168"/>
            <a:ext cx="113385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1000" dirty="0" b="1">
                <a:solidFill>
                  <a:srgbClr val="5A9AE8"/>
                </a:solidFill>
                <a:latin typeface="Consolas"/>
              </a:rPr>
              <a:t>T−30h</a:t>
            </a:r>
            <a:endParaRPr lang="en-US" sz="1000">
              <a:solidFill>
                <a:srgbClr val="5A9AE8"/>
              </a:solidFill>
              <a:latin typeface="Consolas"/>
            </a:endParaRPr>
          </a:p>
        </p:txBody>
      </p:sp>
      <p:sp>
        <p:nvSpPr>
          <p:cNvPr id="17" name="Vintage 1"/>
          <p:cNvSpPr/>
          <p:nvPr/>
        </p:nvSpPr>
        <p:spPr>
          <a:xfrm>
            <a:off x="2441448" y="2779776"/>
            <a:ext cx="1426464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Vintage 1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4869180" y="3515868"/>
            <a:ext cx="137160" cy="137160"/>
          </a:xfrm>
          <a:prstGeom prst="ellipse">
            <a:avLst/>
          </a:prstGeom>
          <a:solidFill>
            <a:srgbClr val="5A9AE8"/>
          </a:solidFill>
          <a:ln w="12700">
            <a:solidFill>
              <a:srgbClr val="0B1520"/>
            </a:solidFill>
          </a:ln>
        </p:spPr>
      </p:sp>
      <p:sp>
        <p:nvSpPr>
          <p:cNvPr id="19" name="T−25h"/>
          <p:cNvSpPr/>
          <p:nvPr/>
        </p:nvSpPr>
        <p:spPr>
          <a:xfrm>
            <a:off x="4370832" y="3913632"/>
            <a:ext cx="113385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1000" dirty="0" b="1">
                <a:solidFill>
                  <a:srgbClr val="5A9AE8"/>
                </a:solidFill>
                <a:latin typeface="Consolas"/>
              </a:rPr>
              <a:t>T−25h</a:t>
            </a:r>
            <a:endParaRPr lang="en-US" sz="1000">
              <a:solidFill>
                <a:srgbClr val="5A9AE8"/>
              </a:solidFill>
              <a:latin typeface="Consolas"/>
            </a:endParaRPr>
          </a:p>
        </p:txBody>
      </p:sp>
      <p:sp>
        <p:nvSpPr>
          <p:cNvPr id="20" name="Vintage 2"/>
          <p:cNvSpPr/>
          <p:nvPr/>
        </p:nvSpPr>
        <p:spPr>
          <a:xfrm>
            <a:off x="4224528" y="4206240"/>
            <a:ext cx="1426464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Vintage 2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7520940" y="3515868"/>
            <a:ext cx="137160" cy="137160"/>
          </a:xfrm>
          <a:prstGeom prst="ellipse">
            <a:avLst/>
          </a:prstGeom>
          <a:solidFill>
            <a:srgbClr val="36D2C2"/>
          </a:solidFill>
          <a:ln w="12700">
            <a:solidFill>
              <a:srgbClr val="0B1520"/>
            </a:solidFill>
          </a:ln>
        </p:spPr>
      </p:sp>
      <p:sp>
        <p:nvSpPr>
          <p:cNvPr id="22" name="T−24h"/>
          <p:cNvSpPr/>
          <p:nvPr/>
        </p:nvSpPr>
        <p:spPr>
          <a:xfrm>
            <a:off x="7022592" y="2487168"/>
            <a:ext cx="113385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1000" dirty="0" b="1">
                <a:solidFill>
                  <a:srgbClr val="36D2C2"/>
                </a:solidFill>
                <a:latin typeface="Consolas"/>
              </a:rPr>
              <a:t>T−24h</a:t>
            </a:r>
            <a:endParaRPr lang="en-US" sz="10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23" name="Selected&#10;latest eligible"/>
          <p:cNvSpPr/>
          <p:nvPr/>
        </p:nvSpPr>
        <p:spPr>
          <a:xfrm>
            <a:off x="6876288" y="2779776"/>
            <a:ext cx="1426464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900" dirty="0">
                <a:solidFill>
                  <a:srgbClr val="36D2C2"/>
                </a:solidFill>
                <a:latin typeface="Aptos"/>
              </a:rPr>
              <a:t>Selected</a:t>
            </a:r>
            <a:endParaRPr lang="en-US" sz="900">
              <a:solidFill>
                <a:srgbClr val="36D2C2"/>
              </a:solidFill>
              <a:latin typeface="Aptos"/>
            </a:endParaRPr>
          </a:p>
          <a:p>
            <a:pPr algn="ctr" marL="0" indent="0"/>
            <a:r>
              <a:rPr lang="en-US" sz="900" dirty="0">
                <a:solidFill>
                  <a:srgbClr val="36D2C2"/>
                </a:solidFill>
                <a:latin typeface="Aptos"/>
              </a:rPr>
              <a:t>latest eligible</a:t>
            </a:r>
            <a:endParaRPr lang="en-US" sz="9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8755380" y="3515868"/>
            <a:ext cx="137160" cy="137160"/>
          </a:xfrm>
          <a:prstGeom prst="ellipse">
            <a:avLst/>
          </a:prstGeom>
          <a:solidFill>
            <a:srgbClr val="D47B70"/>
          </a:solidFill>
          <a:ln w="12700">
            <a:solidFill>
              <a:srgbClr val="0B1520"/>
            </a:solidFill>
          </a:ln>
        </p:spPr>
      </p:sp>
      <p:sp>
        <p:nvSpPr>
          <p:cNvPr id="25" name="T−20h"/>
          <p:cNvSpPr/>
          <p:nvPr/>
        </p:nvSpPr>
        <p:spPr>
          <a:xfrm>
            <a:off x="8257032" y="3913632"/>
            <a:ext cx="113385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1000" dirty="0" b="1">
                <a:solidFill>
                  <a:srgbClr val="D47B70"/>
                </a:solidFill>
                <a:latin typeface="Consolas"/>
              </a:rPr>
              <a:t>T−20h</a:t>
            </a:r>
            <a:endParaRPr lang="en-US" sz="1000">
              <a:solidFill>
                <a:srgbClr val="D47B70"/>
              </a:solidFill>
              <a:latin typeface="Consolas"/>
            </a:endParaRPr>
          </a:p>
        </p:txBody>
      </p:sp>
      <p:sp>
        <p:nvSpPr>
          <p:cNvPr id="26" name="Too late&#10;excluded"/>
          <p:cNvSpPr/>
          <p:nvPr/>
        </p:nvSpPr>
        <p:spPr>
          <a:xfrm>
            <a:off x="8110728" y="4206240"/>
            <a:ext cx="1426464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Too late</a:t>
            </a:r>
            <a:endParaRPr lang="en-US" sz="900">
              <a:solidFill>
                <a:srgbClr val="9CAFC0"/>
              </a:solidFill>
              <a:latin typeface="Aptos"/>
            </a:endParaRPr>
          </a:p>
          <a:p>
            <a:pPr algn="ctr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excluded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10675620" y="3515868"/>
            <a:ext cx="137160" cy="137160"/>
          </a:xfrm>
          <a:prstGeom prst="ellipse">
            <a:avLst/>
          </a:prstGeom>
          <a:solidFill>
            <a:srgbClr val="EFF4F8"/>
          </a:solidFill>
          <a:ln w="12700">
            <a:solidFill>
              <a:srgbClr val="0B1520"/>
            </a:solidFill>
          </a:ln>
        </p:spPr>
      </p:sp>
      <p:sp>
        <p:nvSpPr>
          <p:cNvPr id="28" name="T"/>
          <p:cNvSpPr/>
          <p:nvPr/>
        </p:nvSpPr>
        <p:spPr>
          <a:xfrm>
            <a:off x="10177272" y="2487168"/>
            <a:ext cx="113385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1000" dirty="0" b="1">
                <a:solidFill>
                  <a:srgbClr val="EFF4F8"/>
                </a:solidFill>
                <a:latin typeface="Consolas"/>
              </a:rPr>
              <a:t>T</a:t>
            </a:r>
            <a:endParaRPr lang="en-US" sz="1000">
              <a:solidFill>
                <a:srgbClr val="EFF4F8"/>
              </a:solidFill>
              <a:latin typeface="Consolas"/>
            </a:endParaRPr>
          </a:p>
        </p:txBody>
      </p:sp>
      <p:sp>
        <p:nvSpPr>
          <p:cNvPr id="29" name="Delivery"/>
          <p:cNvSpPr/>
          <p:nvPr/>
        </p:nvSpPr>
        <p:spPr>
          <a:xfrm>
            <a:off x="10030968" y="2779776"/>
            <a:ext cx="1426464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Delivery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30" name="DECISION CUTOFF"/>
          <p:cNvSpPr/>
          <p:nvPr/>
        </p:nvSpPr>
        <p:spPr>
          <a:xfrm>
            <a:off x="6419088" y="1993392"/>
            <a:ext cx="23317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800" dirty="0" b="1">
                <a:solidFill>
                  <a:srgbClr val="DDA85D"/>
                </a:solidFill>
                <a:latin typeface="Consolas"/>
              </a:rPr>
              <a:t>DECISION CUTOFF</a:t>
            </a:r>
            <a:endParaRPr lang="en-US" sz="800">
              <a:solidFill>
                <a:srgbClr val="DDA85D"/>
              </a:solidFill>
              <a:latin typeface="Consolas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658368" y="5074920"/>
            <a:ext cx="10881360" cy="822960"/>
          </a:xfrm>
          <a:prstGeom prst="roundRect">
            <a:avLst/>
          </a:prstGeom>
          <a:solidFill>
            <a:srgbClr val="142435"/>
          </a:solidFill>
          <a:ln w="10160">
            <a:solidFill>
              <a:srgbClr val="614D34"/>
            </a:solidFill>
          </a:ln>
        </p:spPr>
      </p:sp>
      <p:sp>
        <p:nvSpPr>
          <p:cNvPr id="32" name="DEFAULT: 1,440 MINUTES"/>
          <p:cNvSpPr/>
          <p:nvPr/>
        </p:nvSpPr>
        <p:spPr>
          <a:xfrm>
            <a:off x="896112" y="5266944"/>
            <a:ext cx="21031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DDA85D"/>
                </a:solidFill>
                <a:latin typeface="Consolas"/>
              </a:rPr>
              <a:t>DEFAULT: 1,440 MINUTES</a:t>
            </a:r>
            <a:endParaRPr lang="en-US" sz="800">
              <a:solidFill>
                <a:srgbClr val="DDA85D"/>
              </a:solidFill>
              <a:latin typeface="Consolas"/>
            </a:endParaRPr>
          </a:p>
        </p:txBody>
      </p:sp>
      <p:sp>
        <p:nvSpPr>
          <p:cNvPr id="33" name="A configurable analytical assump"/>
          <p:cNvSpPr/>
          <p:nvPr/>
        </p:nvSpPr>
        <p:spPr>
          <a:xfrm>
            <a:off x="3017520" y="5239512"/>
            <a:ext cx="81838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EFF4F8"/>
                </a:solidFill>
                <a:latin typeface="Aptos"/>
              </a:rPr>
              <a:t>A configurable analytical assumption—not an official market deadline. Selection is the latest publish time at or before the cutoff.</a:t>
            </a:r>
            <a:endParaRPr lang="en-US" sz="1000">
              <a:solidFill>
                <a:srgbClr val="EFF4F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Performance snap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4 / PERFORMANCE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04 / PERFORMANCE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A compact scorecard, grounded in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A compact scorecard, grounded in matched periods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Cached project snapshot for 01–0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Cached project snapshot for 01–04 Jan 2026 · default 1,440-minute cutoff · 96 expected hourly periods.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5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05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58368" y="1874520"/>
            <a:ext cx="2106778" cy="1527048"/>
          </a:xfrm>
          <a:prstGeom prst="roundRect">
            <a:avLst/>
          </a:prstGeom>
          <a:solidFill>
            <a:srgbClr val="101D2A"/>
          </a:solidFill>
          <a:ln w="9525">
            <a:solidFill>
              <a:srgbClr val="2A3D5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76656" y="1892808"/>
            <a:ext cx="2070202" cy="50292"/>
          </a:xfrm>
          <a:prstGeom prst="rect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12" name="MEAN ABSOLUTE ERROR"/>
          <p:cNvSpPr/>
          <p:nvPr/>
        </p:nvSpPr>
        <p:spPr>
          <a:xfrm>
            <a:off x="804672" y="2075688"/>
            <a:ext cx="181417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9CAFC0"/>
                </a:solidFill>
                <a:latin typeface="Consolas"/>
              </a:rPr>
              <a:t>MEAN ABSOLUTE ERROR</a:t>
            </a:r>
            <a:endParaRPr lang="en-US" sz="8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13" name="2,697"/>
          <p:cNvSpPr/>
          <p:nvPr/>
        </p:nvSpPr>
        <p:spPr>
          <a:xfrm>
            <a:off x="804672" y="2487168"/>
            <a:ext cx="1814170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300" dirty="0" b="1">
                <a:solidFill>
                  <a:srgbClr val="EFF4F8"/>
                </a:solidFill>
                <a:latin typeface="Aptos"/>
              </a:rPr>
              <a:t>2,697</a:t>
            </a:r>
            <a:endParaRPr lang="en-US" sz="23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4" name="MW"/>
          <p:cNvSpPr/>
          <p:nvPr/>
        </p:nvSpPr>
        <p:spPr>
          <a:xfrm>
            <a:off x="804672" y="2880360"/>
            <a:ext cx="181417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42A86B"/>
                </a:solidFill>
                <a:latin typeface="Aptos"/>
              </a:rPr>
              <a:t>MW</a:t>
            </a:r>
            <a:endParaRPr lang="en-US" sz="900">
              <a:solidFill>
                <a:srgbClr val="42A86B"/>
              </a:solidFill>
              <a:latin typeface="Aptos"/>
            </a:endParaRPr>
          </a:p>
        </p:txBody>
      </p:sp>
      <p:sp>
        <p:nvSpPr>
          <p:cNvPr id="15" name="Average error size"/>
          <p:cNvSpPr/>
          <p:nvPr/>
        </p:nvSpPr>
        <p:spPr>
          <a:xfrm>
            <a:off x="804672" y="3136392"/>
            <a:ext cx="1814170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Average error size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2874874" y="1874520"/>
            <a:ext cx="2106778" cy="1527048"/>
          </a:xfrm>
          <a:prstGeom prst="roundRect">
            <a:avLst/>
          </a:prstGeom>
          <a:solidFill>
            <a:srgbClr val="101D2A"/>
          </a:solidFill>
          <a:ln w="9525">
            <a:solidFill>
              <a:srgbClr val="2A3D5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2893162" y="1892808"/>
            <a:ext cx="2070202" cy="50292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18" name="ROOT MEAN SQUARE ERROR"/>
          <p:cNvSpPr/>
          <p:nvPr/>
        </p:nvSpPr>
        <p:spPr>
          <a:xfrm>
            <a:off x="3021178" y="2075688"/>
            <a:ext cx="181417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9CAFC0"/>
                </a:solidFill>
                <a:latin typeface="Consolas"/>
              </a:rPr>
              <a:t>ROOT MEAN SQUARE ERROR</a:t>
            </a:r>
            <a:endParaRPr lang="en-US" sz="8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19" name="3,025"/>
          <p:cNvSpPr/>
          <p:nvPr/>
        </p:nvSpPr>
        <p:spPr>
          <a:xfrm>
            <a:off x="3021178" y="2487168"/>
            <a:ext cx="1814170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300" dirty="0" b="1">
                <a:solidFill>
                  <a:srgbClr val="EFF4F8"/>
                </a:solidFill>
                <a:latin typeface="Aptos"/>
              </a:rPr>
              <a:t>3,025</a:t>
            </a:r>
            <a:endParaRPr lang="en-US" sz="23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0" name="MW"/>
          <p:cNvSpPr/>
          <p:nvPr/>
        </p:nvSpPr>
        <p:spPr>
          <a:xfrm>
            <a:off x="3021178" y="2880360"/>
            <a:ext cx="181417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5A9AE8"/>
                </a:solidFill>
                <a:latin typeface="Aptos"/>
              </a:rPr>
              <a:t>MW</a:t>
            </a:r>
            <a:endParaRPr lang="en-US" sz="900">
              <a:solidFill>
                <a:srgbClr val="5A9AE8"/>
              </a:solidFill>
              <a:latin typeface="Aptos"/>
            </a:endParaRPr>
          </a:p>
        </p:txBody>
      </p:sp>
      <p:sp>
        <p:nvSpPr>
          <p:cNvPr id="21" name="Weights larger misses"/>
          <p:cNvSpPr/>
          <p:nvPr/>
        </p:nvSpPr>
        <p:spPr>
          <a:xfrm>
            <a:off x="3021178" y="3136392"/>
            <a:ext cx="1814170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Weights larger misses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5091379" y="1874520"/>
            <a:ext cx="2106778" cy="1527048"/>
          </a:xfrm>
          <a:prstGeom prst="roundRect">
            <a:avLst/>
          </a:prstGeom>
          <a:solidFill>
            <a:srgbClr val="101D2A"/>
          </a:solidFill>
          <a:ln w="9525">
            <a:solidFill>
              <a:srgbClr val="2A3D5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5109667" y="1892808"/>
            <a:ext cx="2070202" cy="50292"/>
          </a:xfrm>
          <a:prstGeom prst="rect">
            <a:avLst/>
          </a:prstGeom>
          <a:solidFill>
            <a:srgbClr val="DDA85D"/>
          </a:solidFill>
          <a:ln w="12700">
            <a:noFill/>
          </a:ln>
        </p:spPr>
      </p:sp>
      <p:sp>
        <p:nvSpPr>
          <p:cNvPr id="24" name="MEAN FORECAST BIAS"/>
          <p:cNvSpPr/>
          <p:nvPr/>
        </p:nvSpPr>
        <p:spPr>
          <a:xfrm>
            <a:off x="5237683" y="2075688"/>
            <a:ext cx="181417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9CAFC0"/>
                </a:solidFill>
                <a:latin typeface="Consolas"/>
              </a:rPr>
              <a:t>MEAN FORECAST BIAS</a:t>
            </a:r>
            <a:endParaRPr lang="en-US" sz="8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25" name="+2,692"/>
          <p:cNvSpPr/>
          <p:nvPr/>
        </p:nvSpPr>
        <p:spPr>
          <a:xfrm>
            <a:off x="5237683" y="2487168"/>
            <a:ext cx="1814170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300" dirty="0" b="1">
                <a:solidFill>
                  <a:srgbClr val="EFF4F8"/>
                </a:solidFill>
                <a:latin typeface="Aptos"/>
              </a:rPr>
              <a:t>+2,692</a:t>
            </a:r>
            <a:endParaRPr lang="en-US" sz="23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6" name="MW"/>
          <p:cNvSpPr/>
          <p:nvPr/>
        </p:nvSpPr>
        <p:spPr>
          <a:xfrm>
            <a:off x="5237683" y="2880360"/>
            <a:ext cx="181417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DDA85D"/>
                </a:solidFill>
                <a:latin typeface="Aptos"/>
              </a:rPr>
              <a:t>MW</a:t>
            </a:r>
            <a:endParaRPr lang="en-US" sz="900">
              <a:solidFill>
                <a:srgbClr val="DDA85D"/>
              </a:solidFill>
              <a:latin typeface="Aptos"/>
            </a:endParaRPr>
          </a:p>
        </p:txBody>
      </p:sp>
      <p:sp>
        <p:nvSpPr>
          <p:cNvPr id="27" name="Positive = overforecast"/>
          <p:cNvSpPr/>
          <p:nvPr/>
        </p:nvSpPr>
        <p:spPr>
          <a:xfrm>
            <a:off x="5237683" y="3136392"/>
            <a:ext cx="1814170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Positive = overforecast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7307885" y="1874520"/>
            <a:ext cx="2106778" cy="1527048"/>
          </a:xfrm>
          <a:prstGeom prst="roundRect">
            <a:avLst/>
          </a:prstGeom>
          <a:solidFill>
            <a:srgbClr val="101D2A"/>
          </a:solidFill>
          <a:ln w="9525">
            <a:solidFill>
              <a:srgbClr val="2A3D50"/>
            </a:solidFill>
          </a:ln>
        </p:spPr>
      </p:sp>
      <p:sp>
        <p:nvSpPr>
          <p:cNvPr id="29" name="Shape 29"/>
          <p:cNvSpPr/>
          <p:nvPr/>
        </p:nvSpPr>
        <p:spPr>
          <a:xfrm>
            <a:off x="7326173" y="1892808"/>
            <a:ext cx="2070202" cy="50292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0" name="MATCHED PERIODS"/>
          <p:cNvSpPr/>
          <p:nvPr/>
        </p:nvSpPr>
        <p:spPr>
          <a:xfrm>
            <a:off x="7454189" y="2075688"/>
            <a:ext cx="181417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9CAFC0"/>
                </a:solidFill>
                <a:latin typeface="Consolas"/>
              </a:rPr>
              <a:t>MATCHED PERIODS</a:t>
            </a:r>
            <a:endParaRPr lang="en-US" sz="8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31" name="96"/>
          <p:cNvSpPr/>
          <p:nvPr/>
        </p:nvSpPr>
        <p:spPr>
          <a:xfrm>
            <a:off x="7454189" y="2487168"/>
            <a:ext cx="1814170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300" dirty="0" b="1">
                <a:solidFill>
                  <a:srgbClr val="EFF4F8"/>
                </a:solidFill>
                <a:latin typeface="Aptos"/>
              </a:rPr>
              <a:t>96</a:t>
            </a:r>
            <a:endParaRPr lang="en-US" sz="23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32" name="of 96"/>
          <p:cNvSpPr/>
          <p:nvPr/>
        </p:nvSpPr>
        <p:spPr>
          <a:xfrm>
            <a:off x="7454189" y="2880360"/>
            <a:ext cx="181417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5A9AE8"/>
                </a:solidFill>
                <a:latin typeface="Aptos"/>
              </a:rPr>
              <a:t>of 96</a:t>
            </a:r>
            <a:endParaRPr lang="en-US" sz="900">
              <a:solidFill>
                <a:srgbClr val="5A9AE8"/>
              </a:solidFill>
              <a:latin typeface="Aptos"/>
            </a:endParaRPr>
          </a:p>
        </p:txBody>
      </p:sp>
      <p:sp>
        <p:nvSpPr>
          <p:cNvPr id="33" name="Actual + forecast present"/>
          <p:cNvSpPr/>
          <p:nvPr/>
        </p:nvSpPr>
        <p:spPr>
          <a:xfrm>
            <a:off x="7454189" y="3136392"/>
            <a:ext cx="1814170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Actual + forecast present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9524390" y="1874520"/>
            <a:ext cx="2106778" cy="1527048"/>
          </a:xfrm>
          <a:prstGeom prst="roundRect">
            <a:avLst/>
          </a:prstGeom>
          <a:solidFill>
            <a:srgbClr val="101D2A"/>
          </a:solidFill>
          <a:ln w="9525">
            <a:solidFill>
              <a:srgbClr val="2A3D50"/>
            </a:solidFill>
          </a:ln>
        </p:spPr>
      </p:sp>
      <p:sp>
        <p:nvSpPr>
          <p:cNvPr id="35" name="Shape 35"/>
          <p:cNvSpPr/>
          <p:nvPr/>
        </p:nvSpPr>
        <p:spPr>
          <a:xfrm>
            <a:off x="9542678" y="1892808"/>
            <a:ext cx="2070202" cy="50292"/>
          </a:xfrm>
          <a:prstGeom prst="rect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36" name="DATA COVERAGE"/>
          <p:cNvSpPr/>
          <p:nvPr/>
        </p:nvSpPr>
        <p:spPr>
          <a:xfrm>
            <a:off x="9670694" y="2075688"/>
            <a:ext cx="181417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9CAFC0"/>
                </a:solidFill>
                <a:latin typeface="Consolas"/>
              </a:rPr>
              <a:t>DATA COVERAGE</a:t>
            </a:r>
            <a:endParaRPr lang="en-US" sz="8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37" name="100.0"/>
          <p:cNvSpPr/>
          <p:nvPr/>
        </p:nvSpPr>
        <p:spPr>
          <a:xfrm>
            <a:off x="9670694" y="2487168"/>
            <a:ext cx="1814170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300" dirty="0" b="1">
                <a:solidFill>
                  <a:srgbClr val="EFF4F8"/>
                </a:solidFill>
                <a:latin typeface="Aptos"/>
              </a:rPr>
              <a:t>100.0</a:t>
            </a:r>
            <a:endParaRPr lang="en-US" sz="23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38" name="%"/>
          <p:cNvSpPr/>
          <p:nvPr/>
        </p:nvSpPr>
        <p:spPr>
          <a:xfrm>
            <a:off x="9670694" y="2880360"/>
            <a:ext cx="181417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42A86B"/>
                </a:solidFill>
                <a:latin typeface="Aptos"/>
              </a:rPr>
              <a:t>%</a:t>
            </a:r>
            <a:endParaRPr lang="en-US" sz="900">
              <a:solidFill>
                <a:srgbClr val="42A86B"/>
              </a:solidFill>
              <a:latin typeface="Aptos"/>
            </a:endParaRPr>
          </a:p>
        </p:txBody>
      </p:sp>
      <p:sp>
        <p:nvSpPr>
          <p:cNvPr id="39" name="Expected hourly periods"/>
          <p:cNvSpPr/>
          <p:nvPr/>
        </p:nvSpPr>
        <p:spPr>
          <a:xfrm>
            <a:off x="9670694" y="3136392"/>
            <a:ext cx="1814170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Expected hourly periods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40" name="HOW TO READ THE SCORES"/>
          <p:cNvSpPr/>
          <p:nvPr/>
        </p:nvSpPr>
        <p:spPr>
          <a:xfrm>
            <a:off x="694944" y="3703320"/>
            <a:ext cx="21945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HOW TO READ THE SCORES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658368" y="4041648"/>
            <a:ext cx="3429000" cy="960120"/>
          </a:xfrm>
          <a:prstGeom prst="roundRect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42" name="MAE"/>
          <p:cNvSpPr/>
          <p:nvPr/>
        </p:nvSpPr>
        <p:spPr>
          <a:xfrm>
            <a:off x="841248" y="4215384"/>
            <a:ext cx="8229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36D2C2"/>
                </a:solidFill>
                <a:latin typeface="Consolas"/>
              </a:rPr>
              <a:t>MAE</a:t>
            </a:r>
            <a:endParaRPr lang="en-US" sz="10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43" name="Mean of |forecast − actual|"/>
          <p:cNvSpPr/>
          <p:nvPr/>
        </p:nvSpPr>
        <p:spPr>
          <a:xfrm>
            <a:off x="1682496" y="4178808"/>
            <a:ext cx="224028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 b="1">
                <a:solidFill>
                  <a:srgbClr val="EFF4F8"/>
                </a:solidFill>
                <a:latin typeface="Aptos"/>
              </a:rPr>
              <a:t>Mean of |forecast − actual|</a:t>
            </a:r>
            <a:endParaRPr lang="en-US" sz="11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44" name="Typical absolute miss"/>
          <p:cNvSpPr/>
          <p:nvPr/>
        </p:nvSpPr>
        <p:spPr>
          <a:xfrm>
            <a:off x="841248" y="4626864"/>
            <a:ext cx="30175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Typical absolute miss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45" name="Shape 45"/>
          <p:cNvSpPr/>
          <p:nvPr/>
        </p:nvSpPr>
        <p:spPr>
          <a:xfrm>
            <a:off x="4379976" y="4041648"/>
            <a:ext cx="3429000" cy="960120"/>
          </a:xfrm>
          <a:prstGeom prst="roundRect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46" name="RMSE"/>
          <p:cNvSpPr/>
          <p:nvPr/>
        </p:nvSpPr>
        <p:spPr>
          <a:xfrm>
            <a:off x="4562856" y="4215384"/>
            <a:ext cx="8229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36D2C2"/>
                </a:solidFill>
                <a:latin typeface="Consolas"/>
              </a:rPr>
              <a:t>RMSE</a:t>
            </a:r>
            <a:endParaRPr lang="en-US" sz="10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47" name="√ mean(error²)"/>
          <p:cNvSpPr/>
          <p:nvPr/>
        </p:nvSpPr>
        <p:spPr>
          <a:xfrm>
            <a:off x="5404104" y="4178808"/>
            <a:ext cx="224028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 b="1">
                <a:solidFill>
                  <a:srgbClr val="EFF4F8"/>
                </a:solidFill>
                <a:latin typeface="Aptos"/>
              </a:rPr>
              <a:t>√ mean(error²)</a:t>
            </a:r>
            <a:endParaRPr lang="en-US" sz="11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48" name="Larger misses count more"/>
          <p:cNvSpPr/>
          <p:nvPr/>
        </p:nvSpPr>
        <p:spPr>
          <a:xfrm>
            <a:off x="4562856" y="4626864"/>
            <a:ext cx="30175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Larger misses count more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49" name="Shape 49"/>
          <p:cNvSpPr/>
          <p:nvPr/>
        </p:nvSpPr>
        <p:spPr>
          <a:xfrm>
            <a:off x="8101584" y="4041648"/>
            <a:ext cx="3429000" cy="960120"/>
          </a:xfrm>
          <a:prstGeom prst="roundRect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50" name="BIAS"/>
          <p:cNvSpPr/>
          <p:nvPr/>
        </p:nvSpPr>
        <p:spPr>
          <a:xfrm>
            <a:off x="8284464" y="4215384"/>
            <a:ext cx="8229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36D2C2"/>
                </a:solidFill>
                <a:latin typeface="Consolas"/>
              </a:rPr>
              <a:t>BIAS</a:t>
            </a:r>
            <a:endParaRPr lang="en-US" sz="10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1" name="Mean(forecast − actual)"/>
          <p:cNvSpPr/>
          <p:nvPr/>
        </p:nvSpPr>
        <p:spPr>
          <a:xfrm>
            <a:off x="9125712" y="4178808"/>
            <a:ext cx="224028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 b="1">
                <a:solidFill>
                  <a:srgbClr val="EFF4F8"/>
                </a:solidFill>
                <a:latin typeface="Aptos"/>
              </a:rPr>
              <a:t>Mean(forecast − actual)</a:t>
            </a:r>
            <a:endParaRPr lang="en-US" sz="11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52" name="+ means overforecast"/>
          <p:cNvSpPr/>
          <p:nvPr/>
        </p:nvSpPr>
        <p:spPr>
          <a:xfrm>
            <a:off x="8284464" y="4626864"/>
            <a:ext cx="30175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+ means overforecast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53" name="Snapshot values are calculated f"/>
          <p:cNvSpPr/>
          <p:nvPr/>
        </p:nvSpPr>
        <p:spPr>
          <a:xfrm>
            <a:off x="694944" y="5321808"/>
            <a:ext cx="106984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i="1">
                <a:solidFill>
                  <a:srgbClr val="9CAFC0"/>
                </a:solidFill>
                <a:latin typeface="Aptos"/>
              </a:rPr>
              <a:t>Snapshot values are calculated from the checked-in Elexon cache for this date window; the dashboard itself continues to read live API responses.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Dashboard exper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5 / PRODUCT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05 / PRODUCT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The Overview keeps the decision 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The Overview keeps the decision in view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The page combines date context, 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The page combines date context, API-derived KPIs, and a time-aligned generation profile.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6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06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Overview dashboard mockup"/>
          <p:cNvSpPr/>
          <p:nvPr/>
        </p:nvSpPr>
        <p:spPr>
          <a:xfrm>
            <a:off x="621792" y="1810512"/>
            <a:ext cx="7818120" cy="4315968"/>
          </a:xfrm>
          <a:prstGeom prst="roundRect">
            <a:avLst/>
          </a:prstGeom>
          <a:solidFill>
            <a:srgbClr val="070C12"/>
          </a:solidFill>
          <a:ln w="11430">
            <a:solidFill>
              <a:srgbClr val="2A3D5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21792" y="1810512"/>
            <a:ext cx="7818120" cy="694944"/>
          </a:xfrm>
          <a:prstGeom prst="roundRect">
            <a:avLst/>
          </a:prstGeom>
          <a:solidFill>
            <a:srgbClr val="122235"/>
          </a:solidFill>
          <a:ln w="6350">
            <a:solidFill>
              <a:srgbClr val="2A3D5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822960" y="1984248"/>
            <a:ext cx="155448" cy="155448"/>
          </a:xfrm>
          <a:prstGeom prst="ellipse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13" name="WindCast"/>
          <p:cNvSpPr/>
          <p:nvPr/>
        </p:nvSpPr>
        <p:spPr>
          <a:xfrm>
            <a:off x="1078992" y="1929384"/>
            <a:ext cx="192024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300" dirty="0" b="1">
                <a:solidFill>
                  <a:srgbClr val="EFF4F8"/>
                </a:solidFill>
                <a:latin typeface="Aptos"/>
              </a:rPr>
              <a:t>WindCast</a:t>
            </a:r>
            <a:endParaRPr lang="en-US" sz="13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4" name="UK WIND INTELLIGENCE"/>
          <p:cNvSpPr/>
          <p:nvPr/>
        </p:nvSpPr>
        <p:spPr>
          <a:xfrm>
            <a:off x="1078992" y="2176272"/>
            <a:ext cx="2651760" cy="15544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15" name="DELIVERY WINDOW"/>
          <p:cNvSpPr/>
          <p:nvPr/>
        </p:nvSpPr>
        <p:spPr>
          <a:xfrm>
            <a:off x="5230368" y="1993392"/>
            <a:ext cx="10972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DELIVERY WINDOW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16" name="01–04 JAN 2026"/>
          <p:cNvSpPr/>
          <p:nvPr/>
        </p:nvSpPr>
        <p:spPr>
          <a:xfrm>
            <a:off x="6336792" y="1975104"/>
            <a:ext cx="18288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900" dirty="0" b="1">
                <a:solidFill>
                  <a:srgbClr val="EFF4F8"/>
                </a:solidFill>
                <a:latin typeface="Consolas"/>
              </a:rPr>
              <a:t>01–04 JAN 2026</a:t>
            </a:r>
            <a:endParaRPr lang="en-US" sz="900">
              <a:solidFill>
                <a:srgbClr val="EFF4F8"/>
              </a:solidFill>
              <a:latin typeface="Consolas"/>
            </a:endParaRPr>
          </a:p>
        </p:txBody>
      </p:sp>
      <p:sp>
        <p:nvSpPr>
          <p:cNvPr id="17" name="Overview"/>
          <p:cNvSpPr/>
          <p:nvPr/>
        </p:nvSpPr>
        <p:spPr>
          <a:xfrm>
            <a:off x="822960" y="2633472"/>
            <a:ext cx="347472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500" dirty="0" b="1">
                <a:solidFill>
                  <a:srgbClr val="EFF4F8"/>
                </a:solidFill>
                <a:latin typeface="Aptos"/>
              </a:rPr>
              <a:t>Overview</a:t>
            </a:r>
            <a:endParaRPr lang="en-US" sz="1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8" name="Forecast performance for the sel"/>
          <p:cNvSpPr/>
          <p:nvPr/>
        </p:nvSpPr>
        <p:spPr>
          <a:xfrm>
            <a:off x="822960" y="2935224"/>
            <a:ext cx="71323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Forecast performance for the selected delivery window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9" name="1440-minute cutoff&#10;configurable "/>
          <p:cNvSpPr/>
          <p:nvPr/>
        </p:nvSpPr>
        <p:spPr>
          <a:xfrm>
            <a:off x="6382512" y="2660904"/>
            <a:ext cx="178308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700" dirty="0">
                <a:solidFill>
                  <a:srgbClr val="9CAFC0"/>
                </a:solidFill>
                <a:latin typeface="Aptos"/>
              </a:rPr>
              <a:t>1440-minute cutoff</a:t>
            </a:r>
            <a:endParaRPr lang="en-US" sz="700">
              <a:solidFill>
                <a:srgbClr val="9CAFC0"/>
              </a:solidFill>
              <a:latin typeface="Aptos"/>
            </a:endParaRPr>
          </a:p>
          <a:p>
            <a:pPr algn="r" marL="0" indent="0"/>
            <a:r>
              <a:rPr lang="en-US" sz="700" dirty="0">
                <a:solidFill>
                  <a:srgbClr val="9CAFC0"/>
                </a:solidFill>
                <a:latin typeface="Aptos"/>
              </a:rPr>
              <a:t>configurable assumption</a:t>
            </a:r>
            <a:endParaRPr lang="en-US" sz="7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786384" y="3291840"/>
            <a:ext cx="1457554" cy="749808"/>
          </a:xfrm>
          <a:prstGeom prst="roundRect">
            <a:avLst/>
          </a:prstGeom>
          <a:solidFill>
            <a:srgbClr val="101D2A"/>
          </a:solidFill>
          <a:ln w="6985">
            <a:solidFill>
              <a:srgbClr val="2A3D5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804672" y="3310128"/>
            <a:ext cx="1420978" cy="32004"/>
          </a:xfrm>
          <a:prstGeom prst="rect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22" name="MAE"/>
          <p:cNvSpPr/>
          <p:nvPr/>
        </p:nvSpPr>
        <p:spPr>
          <a:xfrm>
            <a:off x="877824" y="3419856"/>
            <a:ext cx="1274674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600" dirty="0" b="1">
                <a:solidFill>
                  <a:srgbClr val="9CAFC0"/>
                </a:solidFill>
                <a:latin typeface="Consolas"/>
              </a:rPr>
              <a:t>MAE</a:t>
            </a:r>
            <a:endParaRPr lang="en-US" sz="6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23" name="2,697 MW"/>
          <p:cNvSpPr/>
          <p:nvPr/>
        </p:nvSpPr>
        <p:spPr>
          <a:xfrm>
            <a:off x="877824" y="3639312"/>
            <a:ext cx="1274674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EFF4F8"/>
                </a:solidFill>
                <a:latin typeface="Aptos"/>
              </a:rPr>
              <a:t>2,697 MW</a:t>
            </a:r>
            <a:endParaRPr lang="en-US" sz="9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2317090" y="3291840"/>
            <a:ext cx="1457554" cy="749808"/>
          </a:xfrm>
          <a:prstGeom prst="roundRect">
            <a:avLst/>
          </a:prstGeom>
          <a:solidFill>
            <a:srgbClr val="101D2A"/>
          </a:solidFill>
          <a:ln w="6985">
            <a:solidFill>
              <a:srgbClr val="2A3D5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2335378" y="3310128"/>
            <a:ext cx="1420978" cy="32004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26" name="RMSE"/>
          <p:cNvSpPr/>
          <p:nvPr/>
        </p:nvSpPr>
        <p:spPr>
          <a:xfrm>
            <a:off x="2408530" y="3419856"/>
            <a:ext cx="1274674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600" dirty="0" b="1">
                <a:solidFill>
                  <a:srgbClr val="9CAFC0"/>
                </a:solidFill>
                <a:latin typeface="Consolas"/>
              </a:rPr>
              <a:t>RMSE</a:t>
            </a:r>
            <a:endParaRPr lang="en-US" sz="6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27" name="3,025 MW"/>
          <p:cNvSpPr/>
          <p:nvPr/>
        </p:nvSpPr>
        <p:spPr>
          <a:xfrm>
            <a:off x="2408530" y="3639312"/>
            <a:ext cx="1274674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EFF4F8"/>
                </a:solidFill>
                <a:latin typeface="Aptos"/>
              </a:rPr>
              <a:t>3,025 MW</a:t>
            </a:r>
            <a:endParaRPr lang="en-US" sz="9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3847795" y="3291840"/>
            <a:ext cx="1457554" cy="749808"/>
          </a:xfrm>
          <a:prstGeom prst="roundRect">
            <a:avLst/>
          </a:prstGeom>
          <a:solidFill>
            <a:srgbClr val="101D2A"/>
          </a:solidFill>
          <a:ln w="6985">
            <a:solidFill>
              <a:srgbClr val="2A3D50"/>
            </a:solidFill>
          </a:ln>
        </p:spPr>
      </p:sp>
      <p:sp>
        <p:nvSpPr>
          <p:cNvPr id="29" name="Shape 29"/>
          <p:cNvSpPr/>
          <p:nvPr/>
        </p:nvSpPr>
        <p:spPr>
          <a:xfrm>
            <a:off x="3866083" y="3310128"/>
            <a:ext cx="1420978" cy="32004"/>
          </a:xfrm>
          <a:prstGeom prst="rect">
            <a:avLst/>
          </a:prstGeom>
          <a:solidFill>
            <a:srgbClr val="DDA85D"/>
          </a:solidFill>
          <a:ln w="12700">
            <a:noFill/>
          </a:ln>
        </p:spPr>
      </p:sp>
      <p:sp>
        <p:nvSpPr>
          <p:cNvPr id="30" name="BIAS"/>
          <p:cNvSpPr/>
          <p:nvPr/>
        </p:nvSpPr>
        <p:spPr>
          <a:xfrm>
            <a:off x="3939235" y="3419856"/>
            <a:ext cx="1274674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600" dirty="0" b="1">
                <a:solidFill>
                  <a:srgbClr val="9CAFC0"/>
                </a:solidFill>
                <a:latin typeface="Consolas"/>
              </a:rPr>
              <a:t>BIAS</a:t>
            </a:r>
            <a:endParaRPr lang="en-US" sz="6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31" name="+2,692 MW"/>
          <p:cNvSpPr/>
          <p:nvPr/>
        </p:nvSpPr>
        <p:spPr>
          <a:xfrm>
            <a:off x="3939235" y="3639312"/>
            <a:ext cx="1274674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EFF4F8"/>
                </a:solidFill>
                <a:latin typeface="Aptos"/>
              </a:rPr>
              <a:t>+2,692 MW</a:t>
            </a:r>
            <a:endParaRPr lang="en-US" sz="9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378501" y="3291840"/>
            <a:ext cx="1457554" cy="749808"/>
          </a:xfrm>
          <a:prstGeom prst="roundRect">
            <a:avLst/>
          </a:prstGeom>
          <a:solidFill>
            <a:srgbClr val="101D2A"/>
          </a:solidFill>
          <a:ln w="6985">
            <a:solidFill>
              <a:srgbClr val="2A3D50"/>
            </a:solidFill>
          </a:ln>
        </p:spPr>
      </p:sp>
      <p:sp>
        <p:nvSpPr>
          <p:cNvPr id="33" name="Shape 33"/>
          <p:cNvSpPr/>
          <p:nvPr/>
        </p:nvSpPr>
        <p:spPr>
          <a:xfrm>
            <a:off x="5396789" y="3310128"/>
            <a:ext cx="1420978" cy="32004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34" name="MATCHED"/>
          <p:cNvSpPr/>
          <p:nvPr/>
        </p:nvSpPr>
        <p:spPr>
          <a:xfrm>
            <a:off x="5469941" y="3419856"/>
            <a:ext cx="1274674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600" dirty="0" b="1">
                <a:solidFill>
                  <a:srgbClr val="9CAFC0"/>
                </a:solidFill>
                <a:latin typeface="Consolas"/>
              </a:rPr>
              <a:t>MATCHED</a:t>
            </a:r>
            <a:endParaRPr lang="en-US" sz="6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35" name="96 periods"/>
          <p:cNvSpPr/>
          <p:nvPr/>
        </p:nvSpPr>
        <p:spPr>
          <a:xfrm>
            <a:off x="5469941" y="3639312"/>
            <a:ext cx="1274674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EFF4F8"/>
                </a:solidFill>
                <a:latin typeface="Aptos"/>
              </a:rPr>
              <a:t>96 periods</a:t>
            </a:r>
            <a:endParaRPr lang="en-US" sz="9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6909206" y="3291840"/>
            <a:ext cx="1457554" cy="749808"/>
          </a:xfrm>
          <a:prstGeom prst="roundRect">
            <a:avLst/>
          </a:prstGeom>
          <a:solidFill>
            <a:srgbClr val="101D2A"/>
          </a:solidFill>
          <a:ln w="6985">
            <a:solidFill>
              <a:srgbClr val="2A3D50"/>
            </a:solidFill>
          </a:ln>
        </p:spPr>
      </p:sp>
      <p:sp>
        <p:nvSpPr>
          <p:cNvPr id="37" name="Shape 37"/>
          <p:cNvSpPr/>
          <p:nvPr/>
        </p:nvSpPr>
        <p:spPr>
          <a:xfrm>
            <a:off x="6927494" y="3310128"/>
            <a:ext cx="1420978" cy="32004"/>
          </a:xfrm>
          <a:prstGeom prst="rect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38" name="COVERAGE"/>
          <p:cNvSpPr/>
          <p:nvPr/>
        </p:nvSpPr>
        <p:spPr>
          <a:xfrm>
            <a:off x="7000646" y="3419856"/>
            <a:ext cx="1274674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600" dirty="0" b="1">
                <a:solidFill>
                  <a:srgbClr val="9CAFC0"/>
                </a:solidFill>
                <a:latin typeface="Consolas"/>
              </a:rPr>
              <a:t>COVERAGE</a:t>
            </a:r>
            <a:endParaRPr lang="en-US" sz="6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39" name="100.0%"/>
          <p:cNvSpPr/>
          <p:nvPr/>
        </p:nvSpPr>
        <p:spPr>
          <a:xfrm>
            <a:off x="7000646" y="3639312"/>
            <a:ext cx="1274674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EFF4F8"/>
                </a:solidFill>
                <a:latin typeface="Aptos"/>
              </a:rPr>
              <a:t>100.0%</a:t>
            </a:r>
            <a:endParaRPr lang="en-US" sz="9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786384" y="4178808"/>
            <a:ext cx="7488936" cy="1719072"/>
          </a:xfrm>
          <a:prstGeom prst="roundRect">
            <a:avLst/>
          </a:prstGeom>
          <a:solidFill>
            <a:srgbClr val="0B121A"/>
          </a:solidFill>
          <a:ln w="6985">
            <a:solidFill>
              <a:srgbClr val="2A3D50"/>
            </a:solidFill>
          </a:ln>
        </p:spPr>
      </p:sp>
      <p:sp>
        <p:nvSpPr>
          <p:cNvPr id="41" name="Actual vs selected forecast"/>
          <p:cNvSpPr/>
          <p:nvPr/>
        </p:nvSpPr>
        <p:spPr>
          <a:xfrm>
            <a:off x="950976" y="4288536"/>
            <a:ext cx="429768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EFF4F8"/>
                </a:solidFill>
                <a:latin typeface="Aptos"/>
              </a:rPr>
              <a:t>Actual vs selected forecast</a:t>
            </a:r>
            <a:endParaRPr lang="en-US" sz="10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42" name="MW · HOURLY"/>
          <p:cNvSpPr/>
          <p:nvPr/>
        </p:nvSpPr>
        <p:spPr>
          <a:xfrm>
            <a:off x="6355080" y="4315968"/>
            <a:ext cx="1737360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650" dirty="0" b="1">
                <a:solidFill>
                  <a:srgbClr val="9CAFC0"/>
                </a:solidFill>
                <a:latin typeface="Consolas"/>
              </a:rPr>
              <a:t>MW · HOURLY</a:t>
            </a:r>
            <a:endParaRPr lang="en-US" sz="65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43" name="Line"/>
          <p:cNvSpPr/>
          <p:nvPr/>
        </p:nvSpPr>
        <p:spPr>
          <a:xfrm>
            <a:off x="1316736" y="5596128"/>
            <a:ext cx="6757416" cy="1"/>
          </a:xfrm>
          <a:prstGeom prst="line">
            <a:avLst/>
          </a:prstGeom>
          <a:noFill/>
          <a:ln w="5715">
            <a:solidFill>
              <a:srgbClr val="2A3D50"/>
            </a:solidFill>
            <a:prstDash val="dash"/>
          </a:ln>
        </p:spPr>
      </p:sp>
      <p:sp>
        <p:nvSpPr>
          <p:cNvPr id="44" name="Line"/>
          <p:cNvSpPr/>
          <p:nvPr/>
        </p:nvSpPr>
        <p:spPr>
          <a:xfrm>
            <a:off x="1316736" y="5282184"/>
            <a:ext cx="6757416" cy="1"/>
          </a:xfrm>
          <a:prstGeom prst="line">
            <a:avLst/>
          </a:prstGeom>
          <a:noFill/>
          <a:ln w="5715">
            <a:solidFill>
              <a:srgbClr val="2A3D50"/>
            </a:solidFill>
            <a:prstDash val="dash"/>
          </a:ln>
        </p:spPr>
      </p:sp>
      <p:sp>
        <p:nvSpPr>
          <p:cNvPr id="45" name="Line"/>
          <p:cNvSpPr/>
          <p:nvPr/>
        </p:nvSpPr>
        <p:spPr>
          <a:xfrm>
            <a:off x="1316736" y="4968240"/>
            <a:ext cx="6757416" cy="1"/>
          </a:xfrm>
          <a:prstGeom prst="line">
            <a:avLst/>
          </a:prstGeom>
          <a:noFill/>
          <a:ln w="5715">
            <a:solidFill>
              <a:srgbClr val="2A3D50"/>
            </a:solidFill>
            <a:prstDash val="dash"/>
          </a:ln>
        </p:spPr>
      </p:sp>
      <p:sp>
        <p:nvSpPr>
          <p:cNvPr id="46" name="Line"/>
          <p:cNvSpPr/>
          <p:nvPr/>
        </p:nvSpPr>
        <p:spPr>
          <a:xfrm>
            <a:off x="1316736" y="4654296"/>
            <a:ext cx="6757416" cy="1"/>
          </a:xfrm>
          <a:prstGeom prst="line">
            <a:avLst/>
          </a:prstGeom>
          <a:noFill/>
          <a:ln w="5715">
            <a:solidFill>
              <a:srgbClr val="2A3D50"/>
            </a:solidFill>
            <a:prstDash val="dash"/>
          </a:ln>
        </p:spPr>
      </p:sp>
      <p:sp>
        <p:nvSpPr>
          <p:cNvPr id="47" name="Line"/>
          <p:cNvSpPr/>
          <p:nvPr/>
        </p:nvSpPr>
        <p:spPr>
          <a:xfrm flipV="1">
            <a:off x="1316736" y="4729643"/>
            <a:ext cx="965345" cy="55961"/>
          </a:xfrm>
          <a:prstGeom prst="line">
            <a:avLst/>
          </a:prstGeom>
          <a:noFill/>
          <a:ln w="17145">
            <a:solidFill>
              <a:srgbClr val="5A9AE8"/>
            </a:solidFill>
            <a:prstDash val="dash"/>
          </a:ln>
        </p:spPr>
      </p:sp>
      <p:sp>
        <p:nvSpPr>
          <p:cNvPr id="48" name="Line"/>
          <p:cNvSpPr/>
          <p:nvPr/>
        </p:nvSpPr>
        <p:spPr>
          <a:xfrm>
            <a:off x="2282081" y="4729643"/>
            <a:ext cx="965345" cy="97480"/>
          </a:xfrm>
          <a:prstGeom prst="line">
            <a:avLst/>
          </a:prstGeom>
          <a:noFill/>
          <a:ln w="17145">
            <a:solidFill>
              <a:srgbClr val="5A9AE8"/>
            </a:solidFill>
            <a:prstDash val="dash"/>
          </a:ln>
        </p:spPr>
      </p:sp>
      <p:sp>
        <p:nvSpPr>
          <p:cNvPr id="49" name="Line"/>
          <p:cNvSpPr/>
          <p:nvPr/>
        </p:nvSpPr>
        <p:spPr>
          <a:xfrm>
            <a:off x="3247426" y="4827122"/>
            <a:ext cx="965345" cy="44580"/>
          </a:xfrm>
          <a:prstGeom prst="line">
            <a:avLst/>
          </a:prstGeom>
          <a:noFill/>
          <a:ln w="17145">
            <a:solidFill>
              <a:srgbClr val="5A9AE8"/>
            </a:solidFill>
            <a:prstDash val="dash"/>
          </a:ln>
        </p:spPr>
      </p:sp>
      <p:sp>
        <p:nvSpPr>
          <p:cNvPr id="50" name="Line"/>
          <p:cNvSpPr/>
          <p:nvPr/>
        </p:nvSpPr>
        <p:spPr>
          <a:xfrm>
            <a:off x="4212771" y="4871702"/>
            <a:ext cx="965345" cy="28098"/>
          </a:xfrm>
          <a:prstGeom prst="line">
            <a:avLst/>
          </a:prstGeom>
          <a:noFill/>
          <a:ln w="17145">
            <a:solidFill>
              <a:srgbClr val="5A9AE8"/>
            </a:solidFill>
            <a:prstDash val="dash"/>
          </a:ln>
        </p:spPr>
      </p:sp>
      <p:sp>
        <p:nvSpPr>
          <p:cNvPr id="51" name="Line"/>
          <p:cNvSpPr/>
          <p:nvPr/>
        </p:nvSpPr>
        <p:spPr>
          <a:xfrm>
            <a:off x="5178117" y="4899800"/>
            <a:ext cx="965345" cy="143080"/>
          </a:xfrm>
          <a:prstGeom prst="line">
            <a:avLst/>
          </a:prstGeom>
          <a:noFill/>
          <a:ln w="17145">
            <a:solidFill>
              <a:srgbClr val="5A9AE8"/>
            </a:solidFill>
            <a:prstDash val="dash"/>
          </a:ln>
        </p:spPr>
      </p:sp>
      <p:sp>
        <p:nvSpPr>
          <p:cNvPr id="52" name="Line"/>
          <p:cNvSpPr/>
          <p:nvPr/>
        </p:nvSpPr>
        <p:spPr>
          <a:xfrm>
            <a:off x="6143462" y="5042880"/>
            <a:ext cx="965345" cy="119063"/>
          </a:xfrm>
          <a:prstGeom prst="line">
            <a:avLst/>
          </a:prstGeom>
          <a:noFill/>
          <a:ln w="17145">
            <a:solidFill>
              <a:srgbClr val="5A9AE8"/>
            </a:solidFill>
            <a:prstDash val="dash"/>
          </a:ln>
        </p:spPr>
      </p:sp>
      <p:sp>
        <p:nvSpPr>
          <p:cNvPr id="53" name="Line"/>
          <p:cNvSpPr/>
          <p:nvPr/>
        </p:nvSpPr>
        <p:spPr>
          <a:xfrm>
            <a:off x="7108807" y="5161943"/>
            <a:ext cx="965345" cy="81311"/>
          </a:xfrm>
          <a:prstGeom prst="line">
            <a:avLst/>
          </a:prstGeom>
          <a:noFill/>
          <a:ln w="17145">
            <a:solidFill>
              <a:srgbClr val="5A9AE8"/>
            </a:solidFill>
            <a:prstDash val="dash"/>
          </a:ln>
        </p:spPr>
      </p:sp>
      <p:sp>
        <p:nvSpPr>
          <p:cNvPr id="54" name="Line"/>
          <p:cNvSpPr/>
          <p:nvPr/>
        </p:nvSpPr>
        <p:spPr>
          <a:xfrm flipV="1">
            <a:off x="1316736" y="5052495"/>
            <a:ext cx="965345" cy="165762"/>
          </a:xfrm>
          <a:prstGeom prst="line">
            <a:avLst/>
          </a:prstGeom>
          <a:noFill/>
          <a:ln w="18415">
            <a:solidFill>
              <a:srgbClr val="42A86B"/>
            </a:solidFill>
          </a:ln>
        </p:spPr>
      </p:sp>
      <p:sp>
        <p:nvSpPr>
          <p:cNvPr id="55" name="Line"/>
          <p:cNvSpPr/>
          <p:nvPr/>
        </p:nvSpPr>
        <p:spPr>
          <a:xfrm flipV="1">
            <a:off x="2282081" y="5038053"/>
            <a:ext cx="965345" cy="14441"/>
          </a:xfrm>
          <a:prstGeom prst="line">
            <a:avLst/>
          </a:prstGeom>
          <a:noFill/>
          <a:ln w="18415">
            <a:solidFill>
              <a:srgbClr val="42A86B"/>
            </a:solidFill>
          </a:ln>
        </p:spPr>
      </p:sp>
      <p:sp>
        <p:nvSpPr>
          <p:cNvPr id="56" name="Line"/>
          <p:cNvSpPr/>
          <p:nvPr/>
        </p:nvSpPr>
        <p:spPr>
          <a:xfrm>
            <a:off x="3247426" y="5038053"/>
            <a:ext cx="965345" cy="90887"/>
          </a:xfrm>
          <a:prstGeom prst="line">
            <a:avLst/>
          </a:prstGeom>
          <a:noFill/>
          <a:ln w="18415">
            <a:solidFill>
              <a:srgbClr val="42A86B"/>
            </a:solidFill>
          </a:ln>
        </p:spPr>
      </p:sp>
      <p:sp>
        <p:nvSpPr>
          <p:cNvPr id="57" name="Line"/>
          <p:cNvSpPr/>
          <p:nvPr/>
        </p:nvSpPr>
        <p:spPr>
          <a:xfrm flipV="1">
            <a:off x="4212771" y="5090521"/>
            <a:ext cx="965345" cy="38419"/>
          </a:xfrm>
          <a:prstGeom prst="line">
            <a:avLst/>
          </a:prstGeom>
          <a:noFill/>
          <a:ln w="18415">
            <a:solidFill>
              <a:srgbClr val="42A86B"/>
            </a:solidFill>
          </a:ln>
        </p:spPr>
      </p:sp>
      <p:sp>
        <p:nvSpPr>
          <p:cNvPr id="58" name="Line"/>
          <p:cNvSpPr/>
          <p:nvPr/>
        </p:nvSpPr>
        <p:spPr>
          <a:xfrm>
            <a:off x="5178117" y="5090521"/>
            <a:ext cx="965345" cy="32179"/>
          </a:xfrm>
          <a:prstGeom prst="line">
            <a:avLst/>
          </a:prstGeom>
          <a:noFill/>
          <a:ln w="18415">
            <a:solidFill>
              <a:srgbClr val="42A86B"/>
            </a:solidFill>
          </a:ln>
        </p:spPr>
      </p:sp>
      <p:sp>
        <p:nvSpPr>
          <p:cNvPr id="59" name="Line"/>
          <p:cNvSpPr/>
          <p:nvPr/>
        </p:nvSpPr>
        <p:spPr>
          <a:xfrm>
            <a:off x="6143462" y="5122700"/>
            <a:ext cx="965345" cy="102385"/>
          </a:xfrm>
          <a:prstGeom prst="line">
            <a:avLst/>
          </a:prstGeom>
          <a:noFill/>
          <a:ln w="18415">
            <a:solidFill>
              <a:srgbClr val="42A86B"/>
            </a:solidFill>
          </a:ln>
        </p:spPr>
      </p:sp>
      <p:sp>
        <p:nvSpPr>
          <p:cNvPr id="60" name="Line"/>
          <p:cNvSpPr/>
          <p:nvPr/>
        </p:nvSpPr>
        <p:spPr>
          <a:xfrm>
            <a:off x="7108807" y="5225085"/>
            <a:ext cx="965345" cy="207478"/>
          </a:xfrm>
          <a:prstGeom prst="line">
            <a:avLst/>
          </a:prstGeom>
          <a:noFill/>
          <a:ln w="18415">
            <a:solidFill>
              <a:srgbClr val="42A86B"/>
            </a:solidFill>
          </a:ln>
        </p:spPr>
      </p:sp>
      <p:sp>
        <p:nvSpPr>
          <p:cNvPr id="61" name="Shape 61"/>
          <p:cNvSpPr/>
          <p:nvPr/>
        </p:nvSpPr>
        <p:spPr>
          <a:xfrm>
            <a:off x="1275588" y="5177109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2" name="Shape 62"/>
          <p:cNvSpPr/>
          <p:nvPr/>
        </p:nvSpPr>
        <p:spPr>
          <a:xfrm>
            <a:off x="2240933" y="5011347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3" name="Shape 63"/>
          <p:cNvSpPr/>
          <p:nvPr/>
        </p:nvSpPr>
        <p:spPr>
          <a:xfrm>
            <a:off x="3206278" y="4996905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4" name="Shape 64"/>
          <p:cNvSpPr/>
          <p:nvPr/>
        </p:nvSpPr>
        <p:spPr>
          <a:xfrm>
            <a:off x="4171623" y="5087792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5" name="Shape 65"/>
          <p:cNvSpPr/>
          <p:nvPr/>
        </p:nvSpPr>
        <p:spPr>
          <a:xfrm>
            <a:off x="5136969" y="5049373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6" name="Shape 66"/>
          <p:cNvSpPr/>
          <p:nvPr/>
        </p:nvSpPr>
        <p:spPr>
          <a:xfrm>
            <a:off x="6102314" y="5081552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7" name="Shape 67"/>
          <p:cNvSpPr/>
          <p:nvPr/>
        </p:nvSpPr>
        <p:spPr>
          <a:xfrm>
            <a:off x="7067659" y="5183937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8" name="Shape 68"/>
          <p:cNvSpPr/>
          <p:nvPr/>
        </p:nvSpPr>
        <p:spPr>
          <a:xfrm>
            <a:off x="8033004" y="5391415"/>
            <a:ext cx="82296" cy="82296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69" name="01 JAN  ·  UTC HOURS  ·  04 JAN"/>
          <p:cNvSpPr/>
          <p:nvPr/>
        </p:nvSpPr>
        <p:spPr>
          <a:xfrm>
            <a:off x="1316736" y="5660136"/>
            <a:ext cx="6757416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650" dirty="0" b="1">
                <a:solidFill>
                  <a:srgbClr val="9CAFC0"/>
                </a:solidFill>
                <a:latin typeface="Consolas"/>
              </a:rPr>
              <a:t>01 JAN  ·  UTC HOURS  ·  04 JAN</a:t>
            </a:r>
            <a:endParaRPr lang="en-US" sz="65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70" name="Line"/>
          <p:cNvSpPr/>
          <p:nvPr/>
        </p:nvSpPr>
        <p:spPr>
          <a:xfrm>
            <a:off x="950976" y="5806440"/>
            <a:ext cx="219456" cy="1"/>
          </a:xfrm>
          <a:prstGeom prst="line">
            <a:avLst/>
          </a:prstGeom>
          <a:noFill/>
          <a:ln w="21590">
            <a:solidFill>
              <a:srgbClr val="42A86B"/>
            </a:solidFill>
          </a:ln>
        </p:spPr>
      </p:sp>
      <p:sp>
        <p:nvSpPr>
          <p:cNvPr id="71" name="Actual generation"/>
          <p:cNvSpPr/>
          <p:nvPr/>
        </p:nvSpPr>
        <p:spPr>
          <a:xfrm>
            <a:off x="1225296" y="5724144"/>
            <a:ext cx="1261872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650" dirty="0">
                <a:solidFill>
                  <a:srgbClr val="9CAFC0"/>
                </a:solidFill>
                <a:latin typeface="Aptos"/>
              </a:rPr>
              <a:t>Actual generation</a:t>
            </a:r>
            <a:endParaRPr lang="en-US" sz="6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2" name="Line"/>
          <p:cNvSpPr/>
          <p:nvPr/>
        </p:nvSpPr>
        <p:spPr>
          <a:xfrm>
            <a:off x="2615184" y="5806440"/>
            <a:ext cx="219456" cy="1"/>
          </a:xfrm>
          <a:prstGeom prst="line">
            <a:avLst/>
          </a:prstGeom>
          <a:noFill/>
          <a:ln w="21590">
            <a:solidFill>
              <a:srgbClr val="5A9AE8"/>
            </a:solidFill>
            <a:prstDash val="dash"/>
          </a:ln>
        </p:spPr>
      </p:sp>
      <p:sp>
        <p:nvSpPr>
          <p:cNvPr id="73" name="Selected forecast"/>
          <p:cNvSpPr/>
          <p:nvPr/>
        </p:nvSpPr>
        <p:spPr>
          <a:xfrm>
            <a:off x="2889504" y="5724144"/>
            <a:ext cx="1508760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650" dirty="0">
                <a:solidFill>
                  <a:srgbClr val="9CAFC0"/>
                </a:solidFill>
                <a:latin typeface="Aptos"/>
              </a:rPr>
              <a:t>Selected forecast</a:t>
            </a:r>
            <a:endParaRPr lang="en-US" sz="6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4" name="WORKFLOW"/>
          <p:cNvSpPr/>
          <p:nvPr/>
        </p:nvSpPr>
        <p:spPr>
          <a:xfrm>
            <a:off x="8732520" y="1920240"/>
            <a:ext cx="269748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WORKFLOW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75" name="Shape 75"/>
          <p:cNvSpPr/>
          <p:nvPr/>
        </p:nvSpPr>
        <p:spPr>
          <a:xfrm>
            <a:off x="8732520" y="2331720"/>
            <a:ext cx="310896" cy="310896"/>
          </a:xfrm>
          <a:prstGeom prst="ellipse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76" name="01"/>
          <p:cNvSpPr/>
          <p:nvPr/>
        </p:nvSpPr>
        <p:spPr>
          <a:xfrm>
            <a:off x="8732520" y="2359152"/>
            <a:ext cx="31089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700" dirty="0" b="1">
                <a:solidFill>
                  <a:srgbClr val="36D2C2"/>
                </a:solidFill>
                <a:latin typeface="Consolas"/>
              </a:rPr>
              <a:t>01</a:t>
            </a:r>
            <a:endParaRPr lang="en-US" sz="7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77" name="Choose dates"/>
          <p:cNvSpPr/>
          <p:nvPr/>
        </p:nvSpPr>
        <p:spPr>
          <a:xfrm>
            <a:off x="9171432" y="2313432"/>
            <a:ext cx="2212848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 b="1">
                <a:solidFill>
                  <a:srgbClr val="EFF4F8"/>
                </a:solidFill>
                <a:latin typeface="Aptos"/>
              </a:rPr>
              <a:t>Choose dates</a:t>
            </a:r>
            <a:endParaRPr lang="en-US" sz="11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78" name="The same UTC window filters ever"/>
          <p:cNvSpPr/>
          <p:nvPr/>
        </p:nvSpPr>
        <p:spPr>
          <a:xfrm>
            <a:off x="9171432" y="2596896"/>
            <a:ext cx="2212848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The same UTC window filters every endpoint.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9" name="Shape 79"/>
          <p:cNvSpPr/>
          <p:nvPr/>
        </p:nvSpPr>
        <p:spPr>
          <a:xfrm>
            <a:off x="8732520" y="3374136"/>
            <a:ext cx="310896" cy="310896"/>
          </a:xfrm>
          <a:prstGeom prst="ellipse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80" name="02"/>
          <p:cNvSpPr/>
          <p:nvPr/>
        </p:nvSpPr>
        <p:spPr>
          <a:xfrm>
            <a:off x="8732520" y="3401568"/>
            <a:ext cx="31089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700" dirty="0" b="1">
                <a:solidFill>
                  <a:srgbClr val="36D2C2"/>
                </a:solidFill>
                <a:latin typeface="Consolas"/>
              </a:rPr>
              <a:t>02</a:t>
            </a:r>
            <a:endParaRPr lang="en-US" sz="7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81" name="Compare"/>
          <p:cNvSpPr/>
          <p:nvPr/>
        </p:nvSpPr>
        <p:spPr>
          <a:xfrm>
            <a:off x="9171432" y="3355848"/>
            <a:ext cx="2212848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 b="1">
                <a:solidFill>
                  <a:srgbClr val="EFF4F8"/>
                </a:solidFill>
                <a:latin typeface="Aptos"/>
              </a:rPr>
              <a:t>Compare</a:t>
            </a:r>
            <a:endParaRPr lang="en-US" sz="11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82" name="Hourly actuals and selected fore"/>
          <p:cNvSpPr/>
          <p:nvPr/>
        </p:nvSpPr>
        <p:spPr>
          <a:xfrm>
            <a:off x="9171432" y="3639312"/>
            <a:ext cx="2212848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Hourly actuals and selected forecasts share one chart.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83" name="Shape 83"/>
          <p:cNvSpPr/>
          <p:nvPr/>
        </p:nvSpPr>
        <p:spPr>
          <a:xfrm>
            <a:off x="8732520" y="4416552"/>
            <a:ext cx="310896" cy="310896"/>
          </a:xfrm>
          <a:prstGeom prst="ellipse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84" name="03"/>
          <p:cNvSpPr/>
          <p:nvPr/>
        </p:nvSpPr>
        <p:spPr>
          <a:xfrm>
            <a:off x="8732520" y="4443984"/>
            <a:ext cx="31089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700" dirty="0" b="1">
                <a:solidFill>
                  <a:srgbClr val="36D2C2"/>
                </a:solidFill>
                <a:latin typeface="Consolas"/>
              </a:rPr>
              <a:t>03</a:t>
            </a:r>
            <a:endParaRPr lang="en-US" sz="7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85" name="Investigate"/>
          <p:cNvSpPr/>
          <p:nvPr/>
        </p:nvSpPr>
        <p:spPr>
          <a:xfrm>
            <a:off x="9171432" y="4398264"/>
            <a:ext cx="2212848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 b="1">
                <a:solidFill>
                  <a:srgbClr val="EFF4F8"/>
                </a:solidFill>
                <a:latin typeface="Aptos"/>
              </a:rPr>
              <a:t>Investigate</a:t>
            </a:r>
            <a:endParaRPr lang="en-US" sz="11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86" name="Open period detail, vintages, ac"/>
          <p:cNvSpPr/>
          <p:nvPr/>
        </p:nvSpPr>
        <p:spPr>
          <a:xfrm>
            <a:off x="9171432" y="4681728"/>
            <a:ext cx="2212848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>
                <a:solidFill>
                  <a:srgbClr val="9CAFC0"/>
                </a:solidFill>
                <a:latin typeface="Aptos"/>
              </a:rPr>
              <a:t>Open period detail, vintages, accuracy, or quality.</a:t>
            </a:r>
            <a:endParaRPr lang="en-US" sz="8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87" name="Dashboard line samples show 8 po"/>
          <p:cNvSpPr/>
          <p:nvPr/>
        </p:nvSpPr>
        <p:spPr>
          <a:xfrm>
            <a:off x="658368" y="6227064"/>
            <a:ext cx="10789920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i="1">
                <a:solidFill>
                  <a:srgbClr val="9CAFC0"/>
                </a:solidFill>
                <a:latin typeface="Aptos"/>
              </a:rPr>
              <a:t>Dashboard line samples show 8 points from the cached 96-hour window for slide readability; the product plots the full selected series.</a:t>
            </a:r>
            <a:endParaRPr lang="en-US" sz="700">
              <a:solidFill>
                <a:srgbClr val="9CAF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Application rou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6 / PRODUCT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06 / PRODUCT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Four routes support the full ana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Four routes support the full analysis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The Overview is the entry point;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The Overview is the entry point; the other screens remain available for deeper review.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7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07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OVERVIEW"/>
          <p:cNvSpPr/>
          <p:nvPr/>
        </p:nvSpPr>
        <p:spPr>
          <a:xfrm>
            <a:off x="658368" y="1828800"/>
            <a:ext cx="5266944" cy="162763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1" name="OVERVIEW accent"/>
          <p:cNvSpPr/>
          <p:nvPr/>
        </p:nvSpPr>
        <p:spPr>
          <a:xfrm>
            <a:off x="676656" y="1847088"/>
            <a:ext cx="5230368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12" name="OVERVIEW"/>
          <p:cNvSpPr/>
          <p:nvPr/>
        </p:nvSpPr>
        <p:spPr>
          <a:xfrm>
            <a:off x="859536" y="2029968"/>
            <a:ext cx="4864608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OVERVIEW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3" name="Five KPI measures, date controls"/>
          <p:cNvSpPr/>
          <p:nvPr/>
        </p:nvSpPr>
        <p:spPr>
          <a:xfrm>
            <a:off x="859536" y="2450592"/>
            <a:ext cx="4864608" cy="8503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Five KPI measures, date controls, decision policy, and actual-versus-selected forecast profile.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4" name="EXISTING ROUTE"/>
          <p:cNvSpPr/>
          <p:nvPr/>
        </p:nvSpPr>
        <p:spPr>
          <a:xfrm>
            <a:off x="859536" y="3127248"/>
            <a:ext cx="4864608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Aptos"/>
              </a:rPr>
              <a:t>EXISTING ROUTE</a:t>
            </a:r>
            <a:endParaRPr lang="en-US" sz="8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15" name="FORECAST ANALYSIS"/>
          <p:cNvSpPr/>
          <p:nvPr/>
        </p:nvSpPr>
        <p:spPr>
          <a:xfrm>
            <a:off x="6254496" y="1828800"/>
            <a:ext cx="5266944" cy="162763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6" name="FORECAST ANALYSIS accent"/>
          <p:cNvSpPr/>
          <p:nvPr/>
        </p:nvSpPr>
        <p:spPr>
          <a:xfrm>
            <a:off x="6272784" y="1847088"/>
            <a:ext cx="5230368" cy="41148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17" name="FORECAST ANALYSIS"/>
          <p:cNvSpPr/>
          <p:nvPr/>
        </p:nvSpPr>
        <p:spPr>
          <a:xfrm>
            <a:off x="6455664" y="2029968"/>
            <a:ext cx="4864608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FORECAST ANALYSIS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8" name="Sortable delivery-period table, "/>
          <p:cNvSpPr/>
          <p:nvPr/>
        </p:nvSpPr>
        <p:spPr>
          <a:xfrm>
            <a:off x="6455664" y="2450592"/>
            <a:ext cx="4864608" cy="8503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Sortable delivery-period table, CSV export, and a date-specific forecast-vintage inspector.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9" name="EXISTING ROUTE"/>
          <p:cNvSpPr/>
          <p:nvPr/>
        </p:nvSpPr>
        <p:spPr>
          <a:xfrm>
            <a:off x="6455664" y="3127248"/>
            <a:ext cx="4864608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5A9AE8"/>
                </a:solidFill>
                <a:latin typeface="Aptos"/>
              </a:rPr>
              <a:t>EXISTING ROUTE</a:t>
            </a:r>
            <a:endParaRPr lang="en-US" sz="800">
              <a:solidFill>
                <a:srgbClr val="5A9AE8"/>
              </a:solidFill>
              <a:latin typeface="Aptos"/>
            </a:endParaRPr>
          </a:p>
        </p:txBody>
      </p:sp>
      <p:sp>
        <p:nvSpPr>
          <p:cNvPr id="20" name="FORECAST ACCURACY"/>
          <p:cNvSpPr/>
          <p:nvPr/>
        </p:nvSpPr>
        <p:spPr>
          <a:xfrm>
            <a:off x="658368" y="3886200"/>
            <a:ext cx="5266944" cy="162763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21" name="FORECAST ACCURACY accent"/>
          <p:cNvSpPr/>
          <p:nvPr/>
        </p:nvSpPr>
        <p:spPr>
          <a:xfrm>
            <a:off x="676656" y="3904488"/>
            <a:ext cx="5230368" cy="41148"/>
          </a:xfrm>
          <a:prstGeom prst="rect">
            <a:avLst/>
          </a:prstGeom>
          <a:solidFill>
            <a:srgbClr val="DDA85D"/>
          </a:solidFill>
          <a:ln w="12700">
            <a:noFill/>
          </a:ln>
        </p:spPr>
      </p:sp>
      <p:sp>
        <p:nvSpPr>
          <p:cNvPr id="22" name="FORECAST ACCURACY"/>
          <p:cNvSpPr/>
          <p:nvPr/>
        </p:nvSpPr>
        <p:spPr>
          <a:xfrm>
            <a:off x="859536" y="4087368"/>
            <a:ext cx="4864608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FORECAST ACCURACY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3" name="Overall MAE, RMSE, bias, largest"/>
          <p:cNvSpPr/>
          <p:nvPr/>
        </p:nvSpPr>
        <p:spPr>
          <a:xfrm>
            <a:off x="859536" y="4507992"/>
            <a:ext cx="4864608" cy="8503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Overall MAE, RMSE, bias, largest miss, and daily accuracy breakdown.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4" name="EXISTING ROUTE"/>
          <p:cNvSpPr/>
          <p:nvPr/>
        </p:nvSpPr>
        <p:spPr>
          <a:xfrm>
            <a:off x="859536" y="5184648"/>
            <a:ext cx="4864608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DDA85D"/>
                </a:solidFill>
                <a:latin typeface="Aptos"/>
              </a:rPr>
              <a:t>EXISTING ROUTE</a:t>
            </a:r>
            <a:endParaRPr lang="en-US" sz="800">
              <a:solidFill>
                <a:srgbClr val="DDA85D"/>
              </a:solidFill>
              <a:latin typeface="Aptos"/>
            </a:endParaRPr>
          </a:p>
        </p:txBody>
      </p:sp>
      <p:sp>
        <p:nvSpPr>
          <p:cNvPr id="25" name="DATA QUALITY"/>
          <p:cNvSpPr/>
          <p:nvPr/>
        </p:nvSpPr>
        <p:spPr>
          <a:xfrm>
            <a:off x="6254496" y="3886200"/>
            <a:ext cx="5266944" cy="162763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26" name="DATA QUALITY accent"/>
          <p:cNvSpPr/>
          <p:nvPr/>
        </p:nvSpPr>
        <p:spPr>
          <a:xfrm>
            <a:off x="6272784" y="3904488"/>
            <a:ext cx="5230368" cy="41148"/>
          </a:xfrm>
          <a:prstGeom prst="rect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27" name="DATA QUALITY"/>
          <p:cNvSpPr/>
          <p:nvPr/>
        </p:nvSpPr>
        <p:spPr>
          <a:xfrm>
            <a:off x="6455664" y="4087368"/>
            <a:ext cx="4864608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DATA QUALITY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8" name="API health, cache state, observe"/>
          <p:cNvSpPr/>
          <p:nvPr/>
        </p:nvSpPr>
        <p:spPr>
          <a:xfrm>
            <a:off x="6455664" y="4507992"/>
            <a:ext cx="4864608" cy="8503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API health, cache state, observed and missing periods, and latest retrieval time.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9" name="EXISTING ROUTE"/>
          <p:cNvSpPr/>
          <p:nvPr/>
        </p:nvSpPr>
        <p:spPr>
          <a:xfrm>
            <a:off x="6455664" y="5184648"/>
            <a:ext cx="4864608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42A86B"/>
                </a:solidFill>
                <a:latin typeface="Aptos"/>
              </a:rPr>
              <a:t>EXISTING ROUTE</a:t>
            </a:r>
            <a:endParaRPr lang="en-US" sz="800">
              <a:solidFill>
                <a:srgbClr val="42A8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Architecture and A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7 / ARCHITECTURE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07 / ARCHITECTURE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A small, traceable full-stack pi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A small, traceable full-stack pipeline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React presents the analysis; Fas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React presents the analysis; FastAPI owns source retrieval, matching, selection, and metrics.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8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08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58368" y="2057400"/>
            <a:ext cx="2331720" cy="126187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76656" y="2075688"/>
            <a:ext cx="2295144" cy="45720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12" name="React + Vite"/>
          <p:cNvSpPr/>
          <p:nvPr/>
        </p:nvSpPr>
        <p:spPr>
          <a:xfrm>
            <a:off x="841248" y="2350008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React + Vite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3" name="Overview, analysis, accuracy, qu"/>
          <p:cNvSpPr/>
          <p:nvPr/>
        </p:nvSpPr>
        <p:spPr>
          <a:xfrm>
            <a:off x="841248" y="2724912"/>
            <a:ext cx="1975104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Overview, analysis, accuracy, quality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493008" y="2057400"/>
            <a:ext cx="2331720" cy="126187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3511296" y="2075688"/>
            <a:ext cx="2295144" cy="45720"/>
          </a:xfrm>
          <a:prstGeom prst="rect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16" name="FastAPI"/>
          <p:cNvSpPr/>
          <p:nvPr/>
        </p:nvSpPr>
        <p:spPr>
          <a:xfrm>
            <a:off x="3675888" y="2350008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FastAPI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7" name="Date-filtered API and analytics"/>
          <p:cNvSpPr/>
          <p:nvPr/>
        </p:nvSpPr>
        <p:spPr>
          <a:xfrm>
            <a:off x="3675888" y="2724912"/>
            <a:ext cx="1975104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Date-filtered API and analytics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327648" y="2057400"/>
            <a:ext cx="2331720" cy="126187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345936" y="2075688"/>
            <a:ext cx="2295144" cy="45720"/>
          </a:xfrm>
          <a:prstGeom prst="rect">
            <a:avLst/>
          </a:prstGeom>
          <a:solidFill>
            <a:srgbClr val="DDA85D"/>
          </a:solidFill>
          <a:ln w="12700">
            <a:noFill/>
          </a:ln>
        </p:spPr>
      </p:sp>
      <p:sp>
        <p:nvSpPr>
          <p:cNvPr id="20" name="JSON cache"/>
          <p:cNvSpPr/>
          <p:nvPr/>
        </p:nvSpPr>
        <p:spPr>
          <a:xfrm>
            <a:off x="6510528" y="2350008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JSON cache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1" name="Cached actuals and forecast vint"/>
          <p:cNvSpPr/>
          <p:nvPr/>
        </p:nvSpPr>
        <p:spPr>
          <a:xfrm>
            <a:off x="6510528" y="2724912"/>
            <a:ext cx="1975104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Cached actuals and forecast vintages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9162288" y="2057400"/>
            <a:ext cx="2331720" cy="1261872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9180576" y="2075688"/>
            <a:ext cx="2295144" cy="45720"/>
          </a:xfrm>
          <a:prstGeom prst="rect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24" name="Elexon BMRS"/>
          <p:cNvSpPr/>
          <p:nvPr/>
        </p:nvSpPr>
        <p:spPr>
          <a:xfrm>
            <a:off x="9345168" y="2350008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400" dirty="0" b="1">
                <a:solidFill>
                  <a:srgbClr val="EFF4F8"/>
                </a:solidFill>
                <a:latin typeface="Aptos"/>
              </a:rPr>
              <a:t>Elexon BMRS</a:t>
            </a:r>
            <a:endParaRPr lang="en-US" sz="14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5" name="FUELHH actuals + WINDFOR"/>
          <p:cNvSpPr/>
          <p:nvPr/>
        </p:nvSpPr>
        <p:spPr>
          <a:xfrm>
            <a:off x="9345168" y="2724912"/>
            <a:ext cx="1975104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FUELHH actuals + WINDFOR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6" name="↔"/>
          <p:cNvSpPr/>
          <p:nvPr/>
        </p:nvSpPr>
        <p:spPr>
          <a:xfrm>
            <a:off x="3054096" y="2441448"/>
            <a:ext cx="3657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2100" dirty="0" b="1">
                <a:solidFill>
                  <a:srgbClr val="36D2C2"/>
                </a:solidFill>
                <a:latin typeface="Aptos"/>
              </a:rPr>
              <a:t>↔</a:t>
            </a:r>
            <a:endParaRPr lang="en-US" sz="21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27" name="↔"/>
          <p:cNvSpPr/>
          <p:nvPr/>
        </p:nvSpPr>
        <p:spPr>
          <a:xfrm>
            <a:off x="5888736" y="2441448"/>
            <a:ext cx="3657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2100" dirty="0" b="1">
                <a:solidFill>
                  <a:srgbClr val="36D2C2"/>
                </a:solidFill>
                <a:latin typeface="Aptos"/>
              </a:rPr>
              <a:t>↔</a:t>
            </a:r>
            <a:endParaRPr lang="en-US" sz="21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28" name="↔"/>
          <p:cNvSpPr/>
          <p:nvPr/>
        </p:nvSpPr>
        <p:spPr>
          <a:xfrm>
            <a:off x="8723376" y="2441448"/>
            <a:ext cx="3657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2100" dirty="0" b="1">
                <a:solidFill>
                  <a:srgbClr val="36D2C2"/>
                </a:solidFill>
                <a:latin typeface="Aptos"/>
              </a:rPr>
              <a:t>↔</a:t>
            </a:r>
            <a:endParaRPr lang="en-US" sz="21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658368" y="3767328"/>
            <a:ext cx="10835640" cy="1536192"/>
          </a:xfrm>
          <a:prstGeom prst="roundRect">
            <a:avLst/>
          </a:prstGeom>
          <a:solidFill>
            <a:srgbClr val="142435"/>
          </a:solidFill>
          <a:ln w="8890">
            <a:solidFill>
              <a:srgbClr val="2A3D50"/>
            </a:solidFill>
          </a:ln>
        </p:spPr>
      </p:sp>
      <p:sp>
        <p:nvSpPr>
          <p:cNvPr id="30" name="CORE API SURFACE"/>
          <p:cNvSpPr/>
          <p:nvPr/>
        </p:nvSpPr>
        <p:spPr>
          <a:xfrm>
            <a:off x="896112" y="4005072"/>
            <a:ext cx="224028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CORE API SURFACE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31" name="GET  /api/summary&#10;GET  /api/fore"/>
          <p:cNvSpPr/>
          <p:nvPr/>
        </p:nvSpPr>
        <p:spPr>
          <a:xfrm>
            <a:off x="914400" y="4370832"/>
            <a:ext cx="4389120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GET  /api/summary</a:t>
            </a:r>
            <a:endParaRPr lang="en-US" sz="9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GET  /api/forecasts</a:t>
            </a:r>
            <a:endParaRPr lang="en-US" sz="9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GET  /api/accuracy</a:t>
            </a:r>
            <a:endParaRPr lang="en-US" sz="9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GET  /api/data-quality</a:t>
            </a:r>
            <a:endParaRPr lang="en-US" sz="900">
              <a:solidFill>
                <a:srgbClr val="EFF4F8"/>
              </a:solidFill>
              <a:latin typeface="Consolas"/>
            </a:endParaRPr>
          </a:p>
        </p:txBody>
      </p:sp>
      <p:sp>
        <p:nvSpPr>
          <p:cNvPr id="32" name="GET  /api/forecasts/vintages&#10;GET"/>
          <p:cNvSpPr/>
          <p:nvPr/>
        </p:nvSpPr>
        <p:spPr>
          <a:xfrm>
            <a:off x="5852160" y="4370832"/>
            <a:ext cx="5212080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GET  /api/forecasts/vintages</a:t>
            </a:r>
            <a:endParaRPr lang="en-US" sz="9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GET  /api/export/csv</a:t>
            </a:r>
            <a:endParaRPr lang="en-US" sz="9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GET  /api/health</a:t>
            </a:r>
            <a:endParaRPr lang="en-US" sz="9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900" dirty="0">
                <a:solidFill>
                  <a:srgbClr val="EFF4F8"/>
                </a:solidFill>
                <a:latin typeface="Consolas"/>
              </a:rPr>
              <a:t>POST /api/refresh</a:t>
            </a:r>
            <a:endParaRPr lang="en-US" sz="900">
              <a:solidFill>
                <a:srgbClr val="EFF4F8"/>
              </a:solidFill>
              <a:latin typeface="Consolas"/>
            </a:endParaRPr>
          </a:p>
        </p:txBody>
      </p:sp>
      <p:sp>
        <p:nvSpPr>
          <p:cNvPr id="33" name="Refresh explicitly retrieves and"/>
          <p:cNvSpPr/>
          <p:nvPr/>
        </p:nvSpPr>
        <p:spPr>
          <a:xfrm>
            <a:off x="694944" y="5669280"/>
            <a:ext cx="1051560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>
                <a:solidFill>
                  <a:srgbClr val="9CAFC0"/>
                </a:solidFill>
                <a:latin typeface="Aptos"/>
              </a:rPr>
              <a:t>Refresh explicitly retrieves and caches the source records; unavailable upstream data returns an error instead of fabricated observations.</a:t>
            </a:r>
            <a:endParaRPr lang="en-US" sz="900">
              <a:solidFill>
                <a:srgbClr val="9CAF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Integrity and valid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8 / TRUST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08 / TRUST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Built to make assumptions and mi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Built to make assumptions and missingness visible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Forecast quality is meaningful o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Forecast quality is meaningful only when the comparison rules are explicit.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09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09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58368" y="1828800"/>
            <a:ext cx="5257800" cy="397764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1" name="Data and scoring rules"/>
          <p:cNvSpPr/>
          <p:nvPr/>
        </p:nvSpPr>
        <p:spPr>
          <a:xfrm>
            <a:off x="932688" y="2103120"/>
            <a:ext cx="44805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500" dirty="0" b="1">
                <a:solidFill>
                  <a:srgbClr val="EFF4F8"/>
                </a:solidFill>
                <a:latin typeface="Aptos"/>
              </a:rPr>
              <a:t>Data and scoring rules</a:t>
            </a:r>
            <a:endParaRPr lang="en-US" sz="1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950976" y="2660904"/>
            <a:ext cx="109728" cy="109728"/>
          </a:xfrm>
          <a:prstGeom prst="ellipse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13" name="UTC throughout"/>
          <p:cNvSpPr/>
          <p:nvPr/>
        </p:nvSpPr>
        <p:spPr>
          <a:xfrm>
            <a:off x="1170432" y="2633472"/>
            <a:ext cx="42062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EFF4F8"/>
                </a:solidFill>
                <a:latin typeface="Aptos"/>
              </a:rPr>
              <a:t>UTC throughout</a:t>
            </a:r>
            <a:endParaRPr lang="en-US" sz="10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4" name="Source timestamps are normalized"/>
          <p:cNvSpPr/>
          <p:nvPr/>
        </p:nvSpPr>
        <p:spPr>
          <a:xfrm>
            <a:off x="1170432" y="2852928"/>
            <a:ext cx="425196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Source timestamps are normalized before matching.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950976" y="3374136"/>
            <a:ext cx="109728" cy="109728"/>
          </a:xfrm>
          <a:prstGeom prst="ellipse">
            <a:avLst/>
          </a:prstGeom>
          <a:solidFill>
            <a:srgbClr val="42A86B"/>
          </a:solidFill>
          <a:ln w="12700">
            <a:noFill/>
          </a:ln>
        </p:spPr>
      </p:sp>
      <p:sp>
        <p:nvSpPr>
          <p:cNvPr id="16" name="No imputation"/>
          <p:cNvSpPr/>
          <p:nvPr/>
        </p:nvSpPr>
        <p:spPr>
          <a:xfrm>
            <a:off x="1170432" y="3346704"/>
            <a:ext cx="42062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EFF4F8"/>
                </a:solidFill>
                <a:latin typeface="Aptos"/>
              </a:rPr>
              <a:t>No imputation</a:t>
            </a:r>
            <a:endParaRPr lang="en-US" sz="10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7" name="Missing pairs are excluded; real"/>
          <p:cNvSpPr/>
          <p:nvPr/>
        </p:nvSpPr>
        <p:spPr>
          <a:xfrm>
            <a:off x="1170432" y="3566160"/>
            <a:ext cx="425196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Missing pairs are excluded; real zero-generation values remain valid.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950976" y="4087368"/>
            <a:ext cx="109728" cy="109728"/>
          </a:xfrm>
          <a:prstGeom prst="ellipse">
            <a:avLst/>
          </a:prstGeom>
          <a:solidFill>
            <a:srgbClr val="5A9AE8"/>
          </a:solidFill>
          <a:ln w="12700">
            <a:noFill/>
          </a:ln>
        </p:spPr>
      </p:sp>
      <p:sp>
        <p:nvSpPr>
          <p:cNvPr id="19" name="Time-safe selection"/>
          <p:cNvSpPr/>
          <p:nvPr/>
        </p:nvSpPr>
        <p:spPr>
          <a:xfrm>
            <a:off x="1170432" y="4059936"/>
            <a:ext cx="42062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EFF4F8"/>
                </a:solidFill>
                <a:latin typeface="Aptos"/>
              </a:rPr>
              <a:t>Time-safe selection</a:t>
            </a:r>
            <a:endParaRPr lang="en-US" sz="10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0" name="Only forecast publications at or"/>
          <p:cNvSpPr/>
          <p:nvPr/>
        </p:nvSpPr>
        <p:spPr>
          <a:xfrm>
            <a:off x="1170432" y="4279392"/>
            <a:ext cx="425196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Only forecast publications at or before cutoff are eligible.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950976" y="4800600"/>
            <a:ext cx="109728" cy="109728"/>
          </a:xfrm>
          <a:prstGeom prst="ellipse">
            <a:avLst/>
          </a:prstGeom>
          <a:solidFill>
            <a:srgbClr val="DDA85D"/>
          </a:solidFill>
          <a:ln w="12700">
            <a:noFill/>
          </a:ln>
        </p:spPr>
      </p:sp>
      <p:sp>
        <p:nvSpPr>
          <p:cNvPr id="22" name="Coverage alongside error"/>
          <p:cNvSpPr/>
          <p:nvPr/>
        </p:nvSpPr>
        <p:spPr>
          <a:xfrm>
            <a:off x="1170432" y="4773168"/>
            <a:ext cx="42062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 b="1">
                <a:solidFill>
                  <a:srgbClr val="EFF4F8"/>
                </a:solidFill>
                <a:latin typeface="Aptos"/>
              </a:rPr>
              <a:t>Coverage alongside error</a:t>
            </a:r>
            <a:endParaRPr lang="en-US" sz="10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3" name="Matched, expected, observed, and"/>
          <p:cNvSpPr/>
          <p:nvPr/>
        </p:nvSpPr>
        <p:spPr>
          <a:xfrm>
            <a:off x="1170432" y="4992624"/>
            <a:ext cx="425196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Matched, expected, observed, and missing periods are reported.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217920" y="1828800"/>
            <a:ext cx="5285232" cy="397764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25" name="Automated test coverage"/>
          <p:cNvSpPr/>
          <p:nvPr/>
        </p:nvSpPr>
        <p:spPr>
          <a:xfrm>
            <a:off x="6492240" y="2103120"/>
            <a:ext cx="44805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500" dirty="0" b="1">
                <a:solidFill>
                  <a:srgbClr val="EFF4F8"/>
                </a:solidFill>
                <a:latin typeface="Aptos"/>
              </a:rPr>
              <a:t>Automated test coverage</a:t>
            </a:r>
            <a:endParaRPr lang="en-US" sz="1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26" name="Matching"/>
          <p:cNvSpPr/>
          <p:nvPr/>
        </p:nvSpPr>
        <p:spPr>
          <a:xfrm>
            <a:off x="6510528" y="2606040"/>
            <a:ext cx="164592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36D2C2"/>
                </a:solidFill>
                <a:latin typeface="Aptos"/>
              </a:rPr>
              <a:t>Matching</a:t>
            </a:r>
            <a:endParaRPr lang="en-US" sz="9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27" name="UTC normalization and missing va"/>
          <p:cNvSpPr/>
          <p:nvPr/>
        </p:nvSpPr>
        <p:spPr>
          <a:xfrm>
            <a:off x="8183880" y="2606040"/>
            <a:ext cx="2971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UTC normalization and missing values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28" name="Line"/>
          <p:cNvSpPr/>
          <p:nvPr/>
        </p:nvSpPr>
        <p:spPr>
          <a:xfrm>
            <a:off x="6492240" y="2999232"/>
            <a:ext cx="4663440" cy="1"/>
          </a:xfrm>
          <a:prstGeom prst="line">
            <a:avLst/>
          </a:prstGeom>
          <a:noFill/>
          <a:ln w="5715">
            <a:solidFill>
              <a:srgbClr val="2A3D50"/>
            </a:solidFill>
          </a:ln>
        </p:spPr>
      </p:sp>
      <p:sp>
        <p:nvSpPr>
          <p:cNvPr id="29" name="Forecast selection"/>
          <p:cNvSpPr/>
          <p:nvPr/>
        </p:nvSpPr>
        <p:spPr>
          <a:xfrm>
            <a:off x="6510528" y="3163824"/>
            <a:ext cx="164592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36D2C2"/>
                </a:solidFill>
                <a:latin typeface="Aptos"/>
              </a:rPr>
              <a:t>Forecast selection</a:t>
            </a:r>
            <a:endParaRPr lang="en-US" sz="9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30" name="Latest eligible vintage at cutof"/>
          <p:cNvSpPr/>
          <p:nvPr/>
        </p:nvSpPr>
        <p:spPr>
          <a:xfrm>
            <a:off x="8183880" y="3163824"/>
            <a:ext cx="2971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Latest eligible vintage at cutoff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31" name="Line"/>
          <p:cNvSpPr/>
          <p:nvPr/>
        </p:nvSpPr>
        <p:spPr>
          <a:xfrm>
            <a:off x="6492240" y="3557016"/>
            <a:ext cx="4663440" cy="1"/>
          </a:xfrm>
          <a:prstGeom prst="line">
            <a:avLst/>
          </a:prstGeom>
          <a:noFill/>
          <a:ln w="5715">
            <a:solidFill>
              <a:srgbClr val="2A3D50"/>
            </a:solidFill>
          </a:ln>
        </p:spPr>
      </p:sp>
      <p:sp>
        <p:nvSpPr>
          <p:cNvPr id="32" name="Analytics"/>
          <p:cNvSpPr/>
          <p:nvPr/>
        </p:nvSpPr>
        <p:spPr>
          <a:xfrm>
            <a:off x="6510528" y="3721608"/>
            <a:ext cx="164592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36D2C2"/>
                </a:solidFill>
                <a:latin typeface="Aptos"/>
              </a:rPr>
              <a:t>Analytics</a:t>
            </a:r>
            <a:endParaRPr lang="en-US" sz="9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33" name="MAE, RMSE, bias, coverage, zero "/>
          <p:cNvSpPr/>
          <p:nvPr/>
        </p:nvSpPr>
        <p:spPr>
          <a:xfrm>
            <a:off x="8183880" y="3721608"/>
            <a:ext cx="2971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MAE, RMSE, bias, coverage, zero values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34" name="Line"/>
          <p:cNvSpPr/>
          <p:nvPr/>
        </p:nvSpPr>
        <p:spPr>
          <a:xfrm>
            <a:off x="6492240" y="4114800"/>
            <a:ext cx="4663440" cy="1"/>
          </a:xfrm>
          <a:prstGeom prst="line">
            <a:avLst/>
          </a:prstGeom>
          <a:noFill/>
          <a:ln w="5715">
            <a:solidFill>
              <a:srgbClr val="2A3D50"/>
            </a:solidFill>
          </a:ln>
        </p:spPr>
      </p:sp>
      <p:sp>
        <p:nvSpPr>
          <p:cNvPr id="35" name="API behavior"/>
          <p:cNvSpPr/>
          <p:nvPr/>
        </p:nvSpPr>
        <p:spPr>
          <a:xfrm>
            <a:off x="6510528" y="4279392"/>
            <a:ext cx="164592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36D2C2"/>
                </a:solidFill>
                <a:latin typeface="Aptos"/>
              </a:rPr>
              <a:t>API behavior</a:t>
            </a:r>
            <a:endParaRPr lang="en-US" sz="9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36" name="Date ranges, lists, vintages, re"/>
          <p:cNvSpPr/>
          <p:nvPr/>
        </p:nvSpPr>
        <p:spPr>
          <a:xfrm>
            <a:off x="8183880" y="4279392"/>
            <a:ext cx="2971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Date ranges, lists, vintages, refresh, CSV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37" name="Line"/>
          <p:cNvSpPr/>
          <p:nvPr/>
        </p:nvSpPr>
        <p:spPr>
          <a:xfrm>
            <a:off x="6492240" y="4672584"/>
            <a:ext cx="4663440" cy="1"/>
          </a:xfrm>
          <a:prstGeom prst="line">
            <a:avLst/>
          </a:prstGeom>
          <a:noFill/>
          <a:ln w="5715">
            <a:solidFill>
              <a:srgbClr val="2A3D50"/>
            </a:solidFill>
          </a:ln>
        </p:spPr>
      </p:sp>
      <p:sp>
        <p:nvSpPr>
          <p:cNvPr id="38" name="Source client"/>
          <p:cNvSpPr/>
          <p:nvPr/>
        </p:nvSpPr>
        <p:spPr>
          <a:xfrm>
            <a:off x="6510528" y="4837176"/>
            <a:ext cx="164592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36D2C2"/>
                </a:solidFill>
                <a:latin typeface="Aptos"/>
              </a:rPr>
              <a:t>Source client</a:t>
            </a:r>
            <a:endParaRPr lang="en-US" sz="900">
              <a:solidFill>
                <a:srgbClr val="36D2C2"/>
              </a:solidFill>
              <a:latin typeface="Aptos"/>
            </a:endParaRPr>
          </a:p>
        </p:txBody>
      </p:sp>
      <p:sp>
        <p:nvSpPr>
          <p:cNvPr id="39" name="Filters, payload shape, rate lim"/>
          <p:cNvSpPr/>
          <p:nvPr/>
        </p:nvSpPr>
        <p:spPr>
          <a:xfrm>
            <a:off x="8183880" y="4837176"/>
            <a:ext cx="2971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50" dirty="0">
                <a:solidFill>
                  <a:srgbClr val="9CAFC0"/>
                </a:solidFill>
                <a:latin typeface="Aptos"/>
              </a:rPr>
              <a:t>Filters, payload shape, rate limits, network errors</a:t>
            </a:r>
            <a:endParaRPr lang="en-US" sz="850">
              <a:solidFill>
                <a:srgbClr val="9CAFC0"/>
              </a:solidFill>
              <a:latin typeface="Aptos"/>
            </a:endParaRPr>
          </a:p>
        </p:txBody>
      </p:sp>
      <p:sp>
        <p:nvSpPr>
          <p:cNvPr id="40" name="The 1,440-minute cutoff is a con"/>
          <p:cNvSpPr/>
          <p:nvPr/>
        </p:nvSpPr>
        <p:spPr>
          <a:xfrm>
            <a:off x="694944" y="6016752"/>
            <a:ext cx="106070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DDA85D"/>
                </a:solidFill>
                <a:latin typeface="Aptos"/>
              </a:rPr>
              <a:t>The 1,440-minute cutoff is a configurable analysis choice—not a published market deadline.</a:t>
            </a:r>
            <a:endParaRPr lang="en-US" sz="900">
              <a:solidFill>
                <a:srgbClr val="DDA85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Run WindCast local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 w="12700">
            <a:noFill/>
          </a:ln>
        </p:spPr>
      </p:sp>
      <p:sp>
        <p:nvSpPr>
          <p:cNvPr id="3" name="Section accent"/>
          <p:cNvSpPr/>
          <p:nvPr/>
        </p:nvSpPr>
        <p:spPr>
          <a:xfrm>
            <a:off x="621792" y="438912"/>
            <a:ext cx="347472" cy="41148"/>
          </a:xfrm>
          <a:prstGeom prst="rect">
            <a:avLst/>
          </a:prstGeom>
          <a:solidFill>
            <a:srgbClr val="36D2C2"/>
          </a:solidFill>
          <a:ln w="12700">
            <a:noFill/>
          </a:ln>
        </p:spPr>
      </p:sp>
      <p:sp>
        <p:nvSpPr>
          <p:cNvPr id="4" name="09 / HANDOFF"/>
          <p:cNvSpPr/>
          <p:nvPr/>
        </p:nvSpPr>
        <p:spPr>
          <a:xfrm>
            <a:off x="1078992" y="338328"/>
            <a:ext cx="4846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09 / HANDOFF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5" name="Run the API and dashboard locall"/>
          <p:cNvSpPr/>
          <p:nvPr/>
        </p:nvSpPr>
        <p:spPr>
          <a:xfrm>
            <a:off x="621792" y="713232"/>
            <a:ext cx="10789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2500" dirty="0" b="1">
                <a:solidFill>
                  <a:srgbClr val="EFF4F8"/>
                </a:solidFill>
                <a:latin typeface="Aptos"/>
              </a:rPr>
              <a:t>Run the API and dashboard locally</a:t>
            </a:r>
            <a:endParaRPr lang="en-US" sz="2500">
              <a:solidFill>
                <a:srgbClr val="EFF4F8"/>
              </a:solidFill>
              <a:latin typeface="Aptos"/>
            </a:endParaRPr>
          </a:p>
        </p:txBody>
      </p:sp>
      <p:sp>
        <p:nvSpPr>
          <p:cNvPr id="6" name="Start the backend first, then la"/>
          <p:cNvSpPr/>
          <p:nvPr/>
        </p:nvSpPr>
        <p:spPr>
          <a:xfrm>
            <a:off x="640080" y="1243584"/>
            <a:ext cx="106984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9CAFC0"/>
                </a:solidFill>
                <a:latin typeface="Aptos"/>
              </a:rPr>
              <a:t>Start the backend first, then launch the frontend in a second terminal.</a:t>
            </a:r>
            <a:endParaRPr lang="en-US" sz="11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7" name="Footer divider"/>
          <p:cNvSpPr/>
          <p:nvPr/>
        </p:nvSpPr>
        <p:spPr>
          <a:xfrm>
            <a:off x="621792" y="6428232"/>
            <a:ext cx="10954512" cy="1"/>
          </a:xfrm>
          <a:prstGeom prst="line">
            <a:avLst/>
          </a:prstGeom>
          <a:noFill/>
          <a:ln w="8890">
            <a:solidFill>
              <a:srgbClr val="2A3D50"/>
            </a:solidFill>
          </a:ln>
        </p:spPr>
      </p:sp>
      <p:sp>
        <p:nvSpPr>
          <p:cNvPr id="8" name="WINDCAST  •  UK WIND INTELLIGENC"/>
          <p:cNvSpPr/>
          <p:nvPr/>
        </p:nvSpPr>
        <p:spPr>
          <a:xfrm>
            <a:off x="640080" y="6492240"/>
            <a:ext cx="50292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700" dirty="0" b="1">
                <a:solidFill>
                  <a:srgbClr val="9CAFC0"/>
                </a:solidFill>
                <a:latin typeface="Consolas"/>
              </a:rPr>
              <a:t>WINDCAST  •  UK WIND INTELLIGENCE</a:t>
            </a:r>
            <a:endParaRPr lang="en-US" sz="700">
              <a:solidFill>
                <a:srgbClr val="9CAFC0"/>
              </a:solidFill>
              <a:latin typeface="Consolas"/>
            </a:endParaRPr>
          </a:p>
        </p:txBody>
      </p:sp>
      <p:sp>
        <p:nvSpPr>
          <p:cNvPr id="9" name="10"/>
          <p:cNvSpPr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10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58368" y="1874520"/>
            <a:ext cx="5266944" cy="233172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1" name="01  BACKEND  ·  FASTAPI"/>
          <p:cNvSpPr/>
          <p:nvPr/>
        </p:nvSpPr>
        <p:spPr>
          <a:xfrm>
            <a:off x="914400" y="2148840"/>
            <a:ext cx="44805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36D2C2"/>
                </a:solidFill>
                <a:latin typeface="Consolas"/>
              </a:rPr>
              <a:t>01  BACKEND  ·  FASTAPI</a:t>
            </a:r>
            <a:endParaRPr lang="en-US" sz="9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2" name="cd backend&#10;.venv/Scripts/python."/>
          <p:cNvSpPr/>
          <p:nvPr/>
        </p:nvSpPr>
        <p:spPr>
          <a:xfrm>
            <a:off x="914400" y="2606040"/>
            <a:ext cx="4572000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EFF4F8"/>
                </a:solidFill>
                <a:latin typeface="Consolas"/>
              </a:rPr>
              <a:t>cd backend</a:t>
            </a:r>
            <a:endParaRPr lang="en-US" sz="10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1000" dirty="0">
                <a:solidFill>
                  <a:srgbClr val="EFF4F8"/>
                </a:solidFill>
                <a:latin typeface="Consolas"/>
              </a:rPr>
              <a:t>.venv/Scripts/python.exe -m uvicorn app.main:app --reload --host 127.0.0.1 --port 8000</a:t>
            </a:r>
            <a:endParaRPr lang="en-US" sz="1000">
              <a:solidFill>
                <a:srgbClr val="EFF4F8"/>
              </a:solidFill>
              <a:latin typeface="Consolas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236208" y="1874520"/>
            <a:ext cx="5266944" cy="2331720"/>
          </a:xfrm>
          <a:prstGeom prst="roundRect">
            <a:avLst/>
          </a:prstGeom>
          <a:solidFill>
            <a:srgbClr val="101D2A"/>
          </a:solidFill>
          <a:ln w="10160">
            <a:solidFill>
              <a:srgbClr val="2A3D50"/>
            </a:solidFill>
          </a:ln>
        </p:spPr>
      </p:sp>
      <p:sp>
        <p:nvSpPr>
          <p:cNvPr id="14" name="02  FRONTEND  ·  VITE"/>
          <p:cNvSpPr/>
          <p:nvPr/>
        </p:nvSpPr>
        <p:spPr>
          <a:xfrm>
            <a:off x="6492240" y="2148840"/>
            <a:ext cx="44805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900" dirty="0" b="1">
                <a:solidFill>
                  <a:srgbClr val="5A9AE8"/>
                </a:solidFill>
                <a:latin typeface="Consolas"/>
              </a:rPr>
              <a:t>02  FRONTEND  ·  VITE</a:t>
            </a:r>
            <a:endParaRPr lang="en-US" sz="900">
              <a:solidFill>
                <a:srgbClr val="5A9AE8"/>
              </a:solidFill>
              <a:latin typeface="Consolas"/>
            </a:endParaRPr>
          </a:p>
        </p:txBody>
      </p:sp>
      <p:sp>
        <p:nvSpPr>
          <p:cNvPr id="15" name="cd frontend&#10;npm ci&#10;npm run dev"/>
          <p:cNvSpPr/>
          <p:nvPr/>
        </p:nvSpPr>
        <p:spPr>
          <a:xfrm>
            <a:off x="6492240" y="2606040"/>
            <a:ext cx="4572000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100" dirty="0">
                <a:solidFill>
                  <a:srgbClr val="EFF4F8"/>
                </a:solidFill>
                <a:latin typeface="Consolas"/>
              </a:rPr>
              <a:t>cd frontend</a:t>
            </a:r>
            <a:endParaRPr lang="en-US" sz="11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1100" dirty="0">
                <a:solidFill>
                  <a:srgbClr val="EFF4F8"/>
                </a:solidFill>
                <a:latin typeface="Consolas"/>
              </a:rPr>
              <a:t>npm ci</a:t>
            </a:r>
            <a:endParaRPr lang="en-US" sz="1100">
              <a:solidFill>
                <a:srgbClr val="EFF4F8"/>
              </a:solidFill>
              <a:latin typeface="Consolas"/>
            </a:endParaRPr>
          </a:p>
          <a:p>
            <a:pPr algn="l" marL="0" indent="0"/>
            <a:r>
              <a:rPr lang="en-US" sz="1100" dirty="0">
                <a:solidFill>
                  <a:srgbClr val="EFF4F8"/>
                </a:solidFill>
                <a:latin typeface="Consolas"/>
              </a:rPr>
              <a:t>npm run dev</a:t>
            </a:r>
            <a:endParaRPr lang="en-US" sz="1100">
              <a:solidFill>
                <a:srgbClr val="EFF4F8"/>
              </a:solidFill>
              <a:latin typeface="Consolas"/>
            </a:endParaRPr>
          </a:p>
        </p:txBody>
      </p:sp>
      <p:sp>
        <p:nvSpPr>
          <p:cNvPr id="16" name="LOCAL WORKFLOW"/>
          <p:cNvSpPr/>
          <p:nvPr/>
        </p:nvSpPr>
        <p:spPr>
          <a:xfrm>
            <a:off x="694944" y="4645152"/>
            <a:ext cx="210312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800" dirty="0" b="1">
                <a:solidFill>
                  <a:srgbClr val="36D2C2"/>
                </a:solidFill>
                <a:latin typeface="Consolas"/>
              </a:rPr>
              <a:t>LOCAL WORKFLOW</a:t>
            </a:r>
            <a:endParaRPr lang="en-US" sz="800">
              <a:solidFill>
                <a:srgbClr val="36D2C2"/>
              </a:solidFill>
              <a:latin typeface="Consolas"/>
            </a:endParaRPr>
          </a:p>
        </p:txBody>
      </p:sp>
      <p:sp>
        <p:nvSpPr>
          <p:cNvPr id="17" name="Frontend: http://localhost:5173 "/>
          <p:cNvSpPr/>
          <p:nvPr/>
        </p:nvSpPr>
        <p:spPr>
          <a:xfrm>
            <a:off x="694944" y="5010912"/>
            <a:ext cx="1060704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Frontend: http://localhost:5173   ·   API: http://127.0.0.1:8000</a:t>
            </a:r>
            <a:endParaRPr lang="en-US" sz="1000">
              <a:solidFill>
                <a:srgbClr val="9CAFC0"/>
              </a:solidFill>
              <a:latin typeface="Aptos"/>
            </a:endParaRPr>
          </a:p>
          <a:p>
            <a:pPr algn="l" marL="0" indent="0"/>
            <a:r>
              <a:rPr lang="en-US" sz="1000" dirty="0">
                <a:solidFill>
                  <a:srgbClr val="9CAFC0"/>
                </a:solidFill>
                <a:latin typeface="Aptos"/>
              </a:rPr>
              <a:t>Set VITE_API_BASE_URL if the backend uses another address; set WIND_CORS_ORIGINS for a deployed frontend.</a:t>
            </a:r>
            <a:endParaRPr lang="en-US" sz="1000">
              <a:solidFill>
                <a:srgbClr val="9CAFC0"/>
              </a:solidFill>
              <a:latin typeface="Aptos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58368" y="5806440"/>
            <a:ext cx="10881360" cy="384048"/>
          </a:xfrm>
          <a:prstGeom prst="roundRect">
            <a:avLst/>
          </a:prstGeom>
          <a:solidFill>
            <a:srgbClr val="103027"/>
          </a:solidFill>
          <a:ln w="7620">
            <a:solidFill>
              <a:srgbClr val="27604F"/>
            </a:solidFill>
          </a:ln>
        </p:spPr>
      </p:sp>
      <p:sp>
        <p:nvSpPr>
          <p:cNvPr id="19" name="Time-safe selection  ·  hourly a"/>
          <p:cNvSpPr/>
          <p:nvPr/>
        </p:nvSpPr>
        <p:spPr>
          <a:xfrm>
            <a:off x="868680" y="5907024"/>
            <a:ext cx="1037844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en-US" sz="900" dirty="0" b="1">
                <a:solidFill>
                  <a:srgbClr val="C3DDD5"/>
                </a:solidFill>
                <a:latin typeface="Aptos"/>
              </a:rPr>
              <a:t>Time-safe selection  ·  hourly alignment  ·  transparent data quality</a:t>
            </a:r>
            <a:endParaRPr lang="en-US" sz="900">
              <a:solidFill>
                <a:srgbClr val="C3DDD5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dCast">
  <a:themeElements>
    <a:clrScheme name="WindCast">
      <a:dk1>
        <a:srgbClr val="0B1520"/>
      </a:dk1>
      <a:lt1>
        <a:srgbClr val="EFF4F8"/>
      </a:lt1>
      <a:dk2>
        <a:srgbClr val="182637"/>
      </a:dk2>
      <a:lt2>
        <a:srgbClr val="DCE5EC"/>
      </a:lt2>
      <a:accent1>
        <a:srgbClr val="36D2C2"/>
      </a:accent1>
      <a:accent2>
        <a:srgbClr val="5A9AE8"/>
      </a:accent2>
      <a:accent3>
        <a:srgbClr val="42A86B"/>
      </a:accent3>
      <a:accent4>
        <a:srgbClr val="DDA85D"/>
      </a:accent4>
      <a:accent5>
        <a:srgbClr val="8296A9"/>
      </a:accent5>
      <a:accent6>
        <a:srgbClr val="D47B70"/>
      </a:accent6>
      <a:hlink>
        <a:srgbClr val="5A9AE8"/>
      </a:hlink>
      <a:folHlink>
        <a:srgbClr val="9A7BCA"/>
      </a:folHlink>
    </a:clrScheme>
    <a:fontScheme name="WindCast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WindCast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round/>
        </a:ln>
        <a:ln w="12700" cap="flat" cmpd="sng" algn="ctr">
          <a:solidFill>
            <a:schemeClr val="phClr"/>
          </a:solidFill>
          <a:prstDash val="solid"/>
          <a:round/>
        </a:ln>
        <a:ln w="19050" cap="flat" cmpd="sng" algn="ctr">
          <a:solidFill>
            <a:schemeClr val="phClr"/>
          </a:solidFill>
          <a:prstDash val="solid"/>
          <a:round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ep:Properties xmlns:ep="http://schemas.openxmlformats.org/officeDocument/2006/extended-properties">
  <ep:Application>Microsoft Office PowerPoint</ep:Application>
  <ep:PresentationFormat>On-screen Show (16:9)</ep:PresentationFormat>
  <ep:Slides>10</ep:Slides>
  <ep:Company>WindCast</ep:Company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WindCast — UK Wind Forecast Intelligence</dc:title>
  <dc:subject>Project overview and technical presentation</dc:subject>
  <dc:creator>WindCast Project</dc:creator>
  <cp:lastModifiedBy>WindCast Project</cp:lastModifiedBy>
  <dcterms:created xsi:type="dcterms:W3CDTF">2026-10-25T14:07:04+00:00</dcterms:created>
  <dcterms:modified xsi:type="dcterms:W3CDTF">2026-10-25T14:07:04+00:00</dcterms:modified>
</cp:coreProperties>
</file>